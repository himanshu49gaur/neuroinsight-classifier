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7475200" cy="9753600"/>
  <p:notesSz cx="6858000" cy="9144000"/>
  <p:embeddedFontLst>
    <p:embeddedFont>
      <p:font typeface="Copperplate Gothic 29 BC" charset="1" panose="020E0504020206020404"/>
      <p:regular r:id="rId19"/>
    </p:embeddedFont>
    <p:embeddedFont>
      <p:font typeface="Telegraf" charset="1" panose="00000500000000000000"/>
      <p:regular r:id="rId20"/>
    </p:embeddedFont>
    <p:embeddedFont>
      <p:font typeface="Cambria" charset="1" panose="02040503050406030204"/>
      <p:regular r:id="rId21"/>
    </p:embeddedFont>
    <p:embeddedFont>
      <p:font typeface="Calibri (MS)" charset="1" panose="020F0502020204030204"/>
      <p:regular r:id="rId22"/>
    </p:embeddedFont>
    <p:embeddedFont>
      <p:font typeface="Cambria Italics" charset="1" panose="020405030504060A0204"/>
      <p:regular r:id="rId23"/>
    </p:embeddedFont>
    <p:embeddedFont>
      <p:font typeface="Courier New" charset="1" panose="02070309020205020404"/>
      <p:regular r:id="rId24"/>
    </p:embeddedFont>
    <p:embeddedFont>
      <p:font typeface="Cambria Bold" charset="1" panose="02040803050406030204"/>
      <p:regular r:id="rId25"/>
    </p:embeddedFont>
    <p:embeddedFont>
      <p:font typeface="Times New Roman" charset="1" panose="02020603050405020304"/>
      <p:regular r:id="rId26"/>
    </p:embeddedFont>
    <p:embeddedFont>
      <p:font typeface="Brick Sans" charset="1" panose="00000000000000000000"/>
      <p:regular r:id="rId27"/>
    </p:embeddedFont>
    <p:embeddedFont>
      <p:font typeface="TT Drugs" charset="1" panose="02000503060000020003"/>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8.jpeg" Type="http://schemas.openxmlformats.org/officeDocument/2006/relationships/image"/><Relationship Id="rId4" Target="../media/image9.jpeg" Type="http://schemas.openxmlformats.org/officeDocument/2006/relationships/image"/><Relationship Id="rId5" Target="../media/image10.jpeg" Type="http://schemas.openxmlformats.org/officeDocument/2006/relationships/image"/><Relationship Id="rId6" Target="../media/image11.png" Type="http://schemas.openxmlformats.org/officeDocument/2006/relationships/image"/><Relationship Id="rId7" Target="../media/image12.jpeg" Type="http://schemas.openxmlformats.org/officeDocument/2006/relationships/image"/><Relationship Id="rId8" Target="../media/image1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 Id="rId3" Target="../media/image16.png" Type="http://schemas.openxmlformats.org/officeDocument/2006/relationships/image"/><Relationship Id="rId4" Target="../media/image17.jpeg" Type="http://schemas.openxmlformats.org/officeDocument/2006/relationships/image"/><Relationship Id="rId5" Target="../media/image18.jpeg" Type="http://schemas.openxmlformats.org/officeDocument/2006/relationships/image"/><Relationship Id="rId6" Target="../media/image19.jpeg" Type="http://schemas.openxmlformats.org/officeDocument/2006/relationships/image"/><Relationship Id="rId7" Target="../media/image20.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jpeg" Type="http://schemas.openxmlformats.org/officeDocument/2006/relationships/image"/><Relationship Id="rId3" Target="../media/image2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jpeg" Type="http://schemas.openxmlformats.org/officeDocument/2006/relationships/image"/><Relationship Id="rId3" Target="../media/image24.jpeg" Type="http://schemas.openxmlformats.org/officeDocument/2006/relationships/image"/><Relationship Id="rId4" Target="../media/image25.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png" Type="http://schemas.openxmlformats.org/officeDocument/2006/relationships/image"/><Relationship Id="rId4" Target="../media/image3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0F4F6"/>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8623300" y="1689100"/>
            <a:ext cx="7785100" cy="6832600"/>
            <a:chOff x="0" y="0"/>
            <a:chExt cx="10380133" cy="9110133"/>
          </a:xfrm>
        </p:grpSpPr>
        <p:sp>
          <p:nvSpPr>
            <p:cNvPr name="Freeform 3" id="3"/>
            <p:cNvSpPr/>
            <p:nvPr/>
          </p:nvSpPr>
          <p:spPr>
            <a:xfrm flipH="false" flipV="false" rot="0">
              <a:off x="0" y="0"/>
              <a:ext cx="10380091" cy="9110091"/>
            </a:xfrm>
            <a:custGeom>
              <a:avLst/>
              <a:gdLst/>
              <a:ahLst/>
              <a:cxnLst/>
              <a:rect r="r" b="b" t="t" l="l"/>
              <a:pathLst>
                <a:path h="9110091" w="10380091">
                  <a:moveTo>
                    <a:pt x="0" y="0"/>
                  </a:moveTo>
                  <a:lnTo>
                    <a:pt x="10380091" y="0"/>
                  </a:lnTo>
                  <a:lnTo>
                    <a:pt x="10380091" y="9110091"/>
                  </a:lnTo>
                  <a:lnTo>
                    <a:pt x="0" y="9110091"/>
                  </a:lnTo>
                  <a:lnTo>
                    <a:pt x="0" y="0"/>
                  </a:lnTo>
                  <a:close/>
                </a:path>
              </a:pathLst>
            </a:custGeom>
            <a:blipFill>
              <a:blip r:embed="rId2"/>
              <a:stretch>
                <a:fillRect l="0" t="0" r="0" b="0"/>
              </a:stretch>
            </a:blipFill>
          </p:spPr>
        </p:sp>
      </p:grpSp>
      <p:sp>
        <p:nvSpPr>
          <p:cNvPr name="TextBox 4" id="4"/>
          <p:cNvSpPr txBox="true"/>
          <p:nvPr/>
        </p:nvSpPr>
        <p:spPr>
          <a:xfrm rot="0">
            <a:off x="951583" y="784436"/>
            <a:ext cx="8153400" cy="2146025"/>
          </a:xfrm>
          <a:prstGeom prst="rect">
            <a:avLst/>
          </a:prstGeom>
        </p:spPr>
        <p:txBody>
          <a:bodyPr anchor="t" rtlCol="false" tIns="0" lIns="0" bIns="0" rIns="0">
            <a:spAutoFit/>
          </a:bodyPr>
          <a:lstStyle/>
          <a:p>
            <a:pPr algn="l">
              <a:lnSpc>
                <a:spcPts val="6407"/>
              </a:lnSpc>
            </a:pPr>
            <a:r>
              <a:rPr lang="en-US" sz="5899" spc="123">
                <a:solidFill>
                  <a:srgbClr val="1A1A1A"/>
                </a:solidFill>
                <a:latin typeface="Copperplate Gothic 29 BC"/>
                <a:ea typeface="Copperplate Gothic 29 BC"/>
                <a:cs typeface="Copperplate Gothic 29 BC"/>
                <a:sym typeface="Copperplate Gothic 29 BC"/>
              </a:rPr>
              <a:t>NeuroInsight</a:t>
            </a:r>
          </a:p>
          <a:p>
            <a:pPr algn="l">
              <a:lnSpc>
                <a:spcPts val="3476"/>
              </a:lnSpc>
            </a:pPr>
            <a:r>
              <a:rPr lang="en-US" sz="3200" spc="67">
                <a:solidFill>
                  <a:srgbClr val="1C1C1C"/>
                </a:solidFill>
                <a:latin typeface="Telegraf"/>
                <a:ea typeface="Telegraf"/>
                <a:cs typeface="Telegraf"/>
                <a:sym typeface="Telegraf"/>
              </a:rPr>
              <a:t>Accelerating </a:t>
            </a:r>
            <a:r>
              <a:rPr lang="en-US" sz="3200" spc="67">
                <a:solidFill>
                  <a:srgbClr val="1D1D1D"/>
                </a:solidFill>
                <a:latin typeface="Telegraf"/>
                <a:ea typeface="Telegraf"/>
                <a:cs typeface="Telegraf"/>
                <a:sym typeface="Telegraf"/>
              </a:rPr>
              <a:t>Accelerating Alzheimer's </a:t>
            </a:r>
            <a:r>
              <a:rPr lang="en-US" sz="3200" spc="67">
                <a:solidFill>
                  <a:srgbClr val="1C1C1C"/>
                </a:solidFill>
                <a:latin typeface="Telegraf"/>
                <a:ea typeface="Telegraf"/>
                <a:cs typeface="Telegraf"/>
                <a:sym typeface="Telegraf"/>
              </a:rPr>
              <a:t>Diagnosis </a:t>
            </a:r>
            <a:r>
              <a:rPr lang="en-US" sz="3200" spc="67">
                <a:solidFill>
                  <a:srgbClr val="1F1F1F"/>
                </a:solidFill>
                <a:latin typeface="Telegraf"/>
                <a:ea typeface="Telegraf"/>
                <a:cs typeface="Telegraf"/>
                <a:sym typeface="Telegraf"/>
              </a:rPr>
              <a:t>with </a:t>
            </a:r>
            <a:r>
              <a:rPr lang="en-US" sz="3200" spc="67">
                <a:solidFill>
                  <a:srgbClr val="212121"/>
                </a:solidFill>
                <a:latin typeface="Telegraf"/>
                <a:ea typeface="Telegraf"/>
                <a:cs typeface="Telegraf"/>
                <a:sym typeface="Telegraf"/>
              </a:rPr>
              <a:t>AI</a:t>
            </a:r>
          </a:p>
        </p:txBody>
      </p:sp>
      <p:sp>
        <p:nvSpPr>
          <p:cNvPr name="TextBox 5" id="5"/>
          <p:cNvSpPr txBox="true"/>
          <p:nvPr/>
        </p:nvSpPr>
        <p:spPr>
          <a:xfrm rot="0">
            <a:off x="975360" y="6818630"/>
            <a:ext cx="7647940" cy="1703070"/>
          </a:xfrm>
          <a:prstGeom prst="rect">
            <a:avLst/>
          </a:prstGeom>
        </p:spPr>
        <p:txBody>
          <a:bodyPr anchor="t" rtlCol="false" tIns="0" lIns="0" bIns="0" rIns="0">
            <a:spAutoFit/>
          </a:bodyPr>
          <a:lstStyle/>
          <a:p>
            <a:pPr algn="l">
              <a:lnSpc>
                <a:spcPts val="3600"/>
              </a:lnSpc>
            </a:pPr>
            <a:r>
              <a:rPr lang="en-US" sz="3250" spc="-20">
                <a:solidFill>
                  <a:srgbClr val="212121"/>
                </a:solidFill>
                <a:latin typeface="Telegraf"/>
                <a:ea typeface="Telegraf"/>
                <a:cs typeface="Telegraf"/>
                <a:sym typeface="Telegraf"/>
              </a:rPr>
              <a:t>A </a:t>
            </a:r>
            <a:r>
              <a:rPr lang="en-US" sz="3250" spc="-20">
                <a:solidFill>
                  <a:srgbClr val="0F0F0F"/>
                </a:solidFill>
                <a:latin typeface="Telegraf"/>
                <a:ea typeface="Telegraf"/>
                <a:cs typeface="Telegraf"/>
                <a:sym typeface="Telegraf"/>
              </a:rPr>
              <a:t>Deep </a:t>
            </a:r>
            <a:r>
              <a:rPr lang="en-US" sz="3250" spc="-20">
                <a:solidFill>
                  <a:srgbClr val="0C0C0C"/>
                </a:solidFill>
                <a:latin typeface="Telegraf"/>
                <a:ea typeface="Telegraf"/>
                <a:cs typeface="Telegraf"/>
                <a:sym typeface="Telegraf"/>
              </a:rPr>
              <a:t>Learning </a:t>
            </a:r>
            <a:r>
              <a:rPr lang="en-US" sz="3250" spc="-20">
                <a:solidFill>
                  <a:srgbClr val="0F0F0F"/>
                </a:solidFill>
                <a:latin typeface="Telegraf"/>
                <a:ea typeface="Telegraf"/>
                <a:cs typeface="Telegraf"/>
                <a:sym typeface="Telegraf"/>
              </a:rPr>
              <a:t>Classifier </a:t>
            </a:r>
            <a:r>
              <a:rPr lang="en-US" sz="3250" spc="-20">
                <a:solidFill>
                  <a:srgbClr val="0A0A0A"/>
                </a:solidFill>
                <a:latin typeface="Telegraf"/>
                <a:ea typeface="Telegraf"/>
                <a:cs typeface="Telegraf"/>
                <a:sym typeface="Telegraf"/>
              </a:rPr>
              <a:t>Achieving </a:t>
            </a:r>
            <a:r>
              <a:rPr lang="en-US" sz="3250" spc="-20">
                <a:solidFill>
                  <a:srgbClr val="161616"/>
                </a:solidFill>
                <a:latin typeface="Telegraf"/>
                <a:ea typeface="Telegraf"/>
                <a:cs typeface="Telegraf"/>
                <a:sym typeface="Telegraf"/>
              </a:rPr>
              <a:t>98% </a:t>
            </a:r>
            <a:r>
              <a:rPr lang="en-US" sz="3250" spc="-20">
                <a:solidFill>
                  <a:srgbClr val="0A0A0A"/>
                </a:solidFill>
                <a:latin typeface="Telegraf"/>
                <a:ea typeface="Telegraf"/>
                <a:cs typeface="Telegraf"/>
                <a:sym typeface="Telegraf"/>
              </a:rPr>
              <a:t>Accuracy on </a:t>
            </a:r>
            <a:r>
              <a:rPr lang="en-US" sz="3250" spc="-20">
                <a:solidFill>
                  <a:srgbClr val="131313"/>
                </a:solidFill>
                <a:latin typeface="Telegraf"/>
                <a:ea typeface="Telegraf"/>
                <a:cs typeface="Telegraf"/>
                <a:sym typeface="Telegraf"/>
              </a:rPr>
              <a:t>MRI </a:t>
            </a:r>
            <a:r>
              <a:rPr lang="en-US" sz="3250" spc="-20">
                <a:solidFill>
                  <a:srgbClr val="0E0E0E"/>
                </a:solidFill>
                <a:latin typeface="Telegraf"/>
                <a:ea typeface="Telegraf"/>
                <a:cs typeface="Telegraf"/>
                <a:sym typeface="Telegraf"/>
              </a:rPr>
              <a:t>Brain </a:t>
            </a:r>
            <a:r>
              <a:rPr lang="en-US" sz="3250" spc="-20">
                <a:solidFill>
                  <a:srgbClr val="0A0A0A"/>
                </a:solidFill>
                <a:latin typeface="Telegraf"/>
                <a:ea typeface="Telegraf"/>
                <a:cs typeface="Telegraf"/>
                <a:sym typeface="Telegraf"/>
              </a:rPr>
              <a:t>Scans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0F4F6"/>
        </a:solidFill>
      </p:bgPr>
    </p:bg>
    <p:spTree>
      <p:nvGrpSpPr>
        <p:cNvPr id="1" name=""/>
        <p:cNvGrpSpPr/>
        <p:nvPr/>
      </p:nvGrpSpPr>
      <p:grpSpPr>
        <a:xfrm>
          <a:off x="0" y="0"/>
          <a:ext cx="0" cy="0"/>
          <a:chOff x="0" y="0"/>
          <a:chExt cx="0" cy="0"/>
        </a:xfrm>
      </p:grpSpPr>
      <p:sp>
        <p:nvSpPr>
          <p:cNvPr name="Freeform 2" id="2"/>
          <p:cNvSpPr/>
          <p:nvPr/>
        </p:nvSpPr>
        <p:spPr>
          <a:xfrm flipH="false" flipV="false" rot="0">
            <a:off x="1768526" y="2601545"/>
            <a:ext cx="10800943" cy="5792006"/>
          </a:xfrm>
          <a:custGeom>
            <a:avLst/>
            <a:gdLst/>
            <a:ahLst/>
            <a:cxnLst/>
            <a:rect r="r" b="b" t="t" l="l"/>
            <a:pathLst>
              <a:path h="5792006" w="10800943">
                <a:moveTo>
                  <a:pt x="0" y="0"/>
                </a:moveTo>
                <a:lnTo>
                  <a:pt x="10800942" y="0"/>
                </a:lnTo>
                <a:lnTo>
                  <a:pt x="10800942" y="5792005"/>
                </a:lnTo>
                <a:lnTo>
                  <a:pt x="0" y="5792005"/>
                </a:lnTo>
                <a:lnTo>
                  <a:pt x="0" y="0"/>
                </a:lnTo>
                <a:close/>
              </a:path>
            </a:pathLst>
          </a:custGeom>
          <a:blipFill>
            <a:blip r:embed="rId2"/>
            <a:stretch>
              <a:fillRect l="0" t="0" r="0" b="0"/>
            </a:stretch>
          </a:blipFill>
        </p:spPr>
      </p:sp>
      <p:sp>
        <p:nvSpPr>
          <p:cNvPr name="TextBox 3" id="3"/>
          <p:cNvSpPr txBox="true"/>
          <p:nvPr/>
        </p:nvSpPr>
        <p:spPr>
          <a:xfrm rot="0">
            <a:off x="910177" y="524913"/>
            <a:ext cx="16568198" cy="1794510"/>
          </a:xfrm>
          <a:prstGeom prst="rect">
            <a:avLst/>
          </a:prstGeom>
        </p:spPr>
        <p:txBody>
          <a:bodyPr anchor="t" rtlCol="false" tIns="0" lIns="0" bIns="0" rIns="0">
            <a:spAutoFit/>
          </a:bodyPr>
          <a:lstStyle/>
          <a:p>
            <a:pPr algn="l">
              <a:lnSpc>
                <a:spcPts val="5759"/>
              </a:lnSpc>
            </a:pPr>
            <a:r>
              <a:rPr lang="en-US" sz="4800">
                <a:solidFill>
                  <a:srgbClr val="1D1D1D"/>
                </a:solidFill>
                <a:latin typeface="Telegraf"/>
                <a:ea typeface="Telegraf"/>
                <a:cs typeface="Telegraf"/>
                <a:sym typeface="Telegraf"/>
              </a:rPr>
              <a:t>Alzheimer's Disease is </a:t>
            </a:r>
            <a:r>
              <a:rPr lang="en-US" sz="4800">
                <a:solidFill>
                  <a:srgbClr val="232323"/>
                </a:solidFill>
                <a:latin typeface="Telegraf"/>
                <a:ea typeface="Telegraf"/>
                <a:cs typeface="Telegraf"/>
                <a:sym typeface="Telegraf"/>
              </a:rPr>
              <a:t>a </a:t>
            </a:r>
            <a:r>
              <a:rPr lang="en-US" sz="4800">
                <a:solidFill>
                  <a:srgbClr val="1D1D1D"/>
                </a:solidFill>
                <a:latin typeface="Telegraf"/>
                <a:ea typeface="Telegraf"/>
                <a:cs typeface="Telegraf"/>
                <a:sym typeface="Telegraf"/>
              </a:rPr>
              <a:t>Progressive </a:t>
            </a:r>
            <a:r>
              <a:rPr lang="en-US" sz="4800">
                <a:solidFill>
                  <a:srgbClr val="1C1C1C"/>
                </a:solidFill>
                <a:latin typeface="Telegraf"/>
                <a:ea typeface="Telegraf"/>
                <a:cs typeface="Telegraf"/>
                <a:sym typeface="Telegraf"/>
              </a:rPr>
              <a:t>Neurological </a:t>
            </a:r>
            <a:r>
              <a:rPr lang="en-US" sz="4800">
                <a:solidFill>
                  <a:srgbClr val="1F1F1F"/>
                </a:solidFill>
                <a:latin typeface="Telegraf"/>
                <a:ea typeface="Telegraf"/>
                <a:cs typeface="Telegraf"/>
                <a:sym typeface="Telegraf"/>
              </a:rPr>
              <a:t>Crisis</a:t>
            </a:r>
          </a:p>
        </p:txBody>
      </p:sp>
      <p:sp>
        <p:nvSpPr>
          <p:cNvPr name="TextBox 4" id="4"/>
          <p:cNvSpPr txBox="true"/>
          <p:nvPr/>
        </p:nvSpPr>
        <p:spPr>
          <a:xfrm rot="0">
            <a:off x="13196570" y="2851274"/>
            <a:ext cx="3306445" cy="5311597"/>
          </a:xfrm>
          <a:prstGeom prst="rect">
            <a:avLst/>
          </a:prstGeom>
        </p:spPr>
        <p:txBody>
          <a:bodyPr anchor="t" rtlCol="false" tIns="0" lIns="0" bIns="0" rIns="0">
            <a:spAutoFit/>
          </a:bodyPr>
          <a:lstStyle/>
          <a:p>
            <a:pPr algn="l">
              <a:lnSpc>
                <a:spcPts val="2186"/>
              </a:lnSpc>
            </a:pPr>
            <a:r>
              <a:rPr lang="en-US" sz="2000">
                <a:solidFill>
                  <a:srgbClr val="000000"/>
                </a:solidFill>
                <a:latin typeface="Cambria"/>
                <a:ea typeface="Cambria"/>
                <a:cs typeface="Cambria"/>
                <a:sym typeface="Cambria"/>
              </a:rPr>
              <a:t>Alzheimer‘s Disease (AD) is a progressive neurodivergent disorder and a leading cause of dementia globally. It gradually impairs memory, cognitive thinking, and behavioral abilities. Early diagnosis is crucial in slowing the progression of cognitive deterioration deterioration and supporting timely patient treatment planning.</a:t>
            </a:r>
          </a:p>
        </p:txBody>
      </p:sp>
      <p:sp>
        <p:nvSpPr>
          <p:cNvPr name="TextBox 5" id="5"/>
          <p:cNvSpPr txBox="true"/>
          <p:nvPr/>
        </p:nvSpPr>
        <p:spPr>
          <a:xfrm rot="0">
            <a:off x="16107384" y="9426645"/>
            <a:ext cx="1370991" cy="485775"/>
          </a:xfrm>
          <a:prstGeom prst="rect">
            <a:avLst/>
          </a:prstGeom>
        </p:spPr>
        <p:txBody>
          <a:bodyPr anchor="t" rtlCol="false" tIns="0" lIns="0" bIns="0" rIns="0">
            <a:spAutoFit/>
          </a:bodyPr>
          <a:lstStyle/>
          <a:p>
            <a:pPr algn="l">
              <a:lnSpc>
                <a:spcPts val="1560"/>
              </a:lnSpc>
            </a:pPr>
            <a:r>
              <a:rPr lang="en-US" sz="1300" spc="-10">
                <a:solidFill>
                  <a:srgbClr val="000000"/>
                </a:solidFill>
                <a:latin typeface="Telegraf"/>
                <a:ea typeface="Telegraf"/>
                <a:cs typeface="Telegraf"/>
                <a:sym typeface="Telegraf"/>
              </a:rPr>
              <a:t>G NotebookLM</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0F4F6"/>
        </a:solidFill>
      </p:bgPr>
    </p:bg>
    <p:spTree>
      <p:nvGrpSpPr>
        <p:cNvPr id="1" name=""/>
        <p:cNvGrpSpPr/>
        <p:nvPr/>
      </p:nvGrpSpPr>
      <p:grpSpPr>
        <a:xfrm>
          <a:off x="0" y="0"/>
          <a:ext cx="0" cy="0"/>
          <a:chOff x="0" y="0"/>
          <a:chExt cx="0" cy="0"/>
        </a:xfrm>
      </p:grpSpPr>
      <p:sp>
        <p:nvSpPr>
          <p:cNvPr name="Freeform 2" id="2"/>
          <p:cNvSpPr/>
          <p:nvPr/>
        </p:nvSpPr>
        <p:spPr>
          <a:xfrm flipH="false" flipV="false" rot="0">
            <a:off x="2039856" y="4487777"/>
            <a:ext cx="2203391" cy="2071391"/>
          </a:xfrm>
          <a:custGeom>
            <a:avLst/>
            <a:gdLst/>
            <a:ahLst/>
            <a:cxnLst/>
            <a:rect r="r" b="b" t="t" l="l"/>
            <a:pathLst>
              <a:path h="2071391" w="2203391">
                <a:moveTo>
                  <a:pt x="0" y="0"/>
                </a:moveTo>
                <a:lnTo>
                  <a:pt x="2203391" y="0"/>
                </a:lnTo>
                <a:lnTo>
                  <a:pt x="2203391" y="2071391"/>
                </a:lnTo>
                <a:lnTo>
                  <a:pt x="0" y="2071391"/>
                </a:lnTo>
                <a:lnTo>
                  <a:pt x="0" y="0"/>
                </a:lnTo>
                <a:close/>
              </a:path>
            </a:pathLst>
          </a:custGeom>
          <a:blipFill>
            <a:blip r:embed="rId2"/>
            <a:stretch>
              <a:fillRect l="0" t="0" r="0" b="0"/>
            </a:stretch>
          </a:blipFill>
        </p:spPr>
      </p:sp>
      <p:sp>
        <p:nvSpPr>
          <p:cNvPr name="Freeform 3" id="3"/>
          <p:cNvSpPr/>
          <p:nvPr/>
        </p:nvSpPr>
        <p:spPr>
          <a:xfrm flipH="false" flipV="false" rot="0">
            <a:off x="7658596" y="4487777"/>
            <a:ext cx="2202910" cy="2053720"/>
          </a:xfrm>
          <a:custGeom>
            <a:avLst/>
            <a:gdLst/>
            <a:ahLst/>
            <a:cxnLst/>
            <a:rect r="r" b="b" t="t" l="l"/>
            <a:pathLst>
              <a:path h="2053720" w="2202910">
                <a:moveTo>
                  <a:pt x="0" y="0"/>
                </a:moveTo>
                <a:lnTo>
                  <a:pt x="2202910" y="0"/>
                </a:lnTo>
                <a:lnTo>
                  <a:pt x="2202910" y="2053720"/>
                </a:lnTo>
                <a:lnTo>
                  <a:pt x="0" y="2053720"/>
                </a:lnTo>
                <a:lnTo>
                  <a:pt x="0" y="0"/>
                </a:lnTo>
                <a:close/>
              </a:path>
            </a:pathLst>
          </a:custGeom>
          <a:blipFill>
            <a:blip r:embed="rId3"/>
            <a:stretch>
              <a:fillRect l="-5819" t="0" r="-12150" b="0"/>
            </a:stretch>
          </a:blipFill>
        </p:spPr>
      </p:sp>
      <p:sp>
        <p:nvSpPr>
          <p:cNvPr name="Freeform 4" id="4"/>
          <p:cNvSpPr/>
          <p:nvPr/>
        </p:nvSpPr>
        <p:spPr>
          <a:xfrm flipH="false" flipV="false" rot="0">
            <a:off x="13176841" y="4487777"/>
            <a:ext cx="2202910" cy="2053720"/>
          </a:xfrm>
          <a:custGeom>
            <a:avLst/>
            <a:gdLst/>
            <a:ahLst/>
            <a:cxnLst/>
            <a:rect r="r" b="b" t="t" l="l"/>
            <a:pathLst>
              <a:path h="2053720" w="2202910">
                <a:moveTo>
                  <a:pt x="0" y="0"/>
                </a:moveTo>
                <a:lnTo>
                  <a:pt x="2202910" y="0"/>
                </a:lnTo>
                <a:lnTo>
                  <a:pt x="2202910" y="2053720"/>
                </a:lnTo>
                <a:lnTo>
                  <a:pt x="0" y="2053720"/>
                </a:lnTo>
                <a:lnTo>
                  <a:pt x="0" y="0"/>
                </a:lnTo>
                <a:close/>
              </a:path>
            </a:pathLst>
          </a:custGeom>
          <a:blipFill>
            <a:blip r:embed="rId4"/>
            <a:stretch>
              <a:fillRect l="-5031" t="0" r="-2731" b="0"/>
            </a:stretch>
          </a:blipFill>
        </p:spPr>
      </p:sp>
      <p:sp>
        <p:nvSpPr>
          <p:cNvPr name="TextBox 5" id="5"/>
          <p:cNvSpPr txBox="true"/>
          <p:nvPr/>
        </p:nvSpPr>
        <p:spPr>
          <a:xfrm rot="0">
            <a:off x="975360" y="927735"/>
            <a:ext cx="15265741" cy="3212739"/>
          </a:xfrm>
          <a:prstGeom prst="rect">
            <a:avLst/>
          </a:prstGeom>
        </p:spPr>
        <p:txBody>
          <a:bodyPr anchor="t" rtlCol="false" tIns="0" lIns="0" bIns="0" rIns="0">
            <a:spAutoFit/>
          </a:bodyPr>
          <a:lstStyle/>
          <a:p>
            <a:pPr algn="l">
              <a:lnSpc>
                <a:spcPts val="5277"/>
              </a:lnSpc>
            </a:pPr>
            <a:r>
              <a:rPr lang="en-US" sz="4398" spc="-25">
                <a:solidFill>
                  <a:srgbClr val="1F1F1F"/>
                </a:solidFill>
                <a:latin typeface="Telegraf"/>
                <a:ea typeface="Telegraf"/>
                <a:cs typeface="Telegraf"/>
                <a:sym typeface="Telegraf"/>
              </a:rPr>
              <a:t>Manual </a:t>
            </a:r>
            <a:r>
              <a:rPr lang="en-US" sz="4398" spc="-25">
                <a:solidFill>
                  <a:srgbClr val="232323"/>
                </a:solidFill>
                <a:latin typeface="Telegraf"/>
                <a:ea typeface="Telegraf"/>
                <a:cs typeface="Telegraf"/>
                <a:sym typeface="Telegraf"/>
              </a:rPr>
              <a:t>MRI Analysis </a:t>
            </a:r>
            <a:r>
              <a:rPr lang="en-US" sz="4398" spc="-25">
                <a:solidFill>
                  <a:srgbClr val="1F1F1F"/>
                </a:solidFill>
                <a:latin typeface="Telegraf"/>
                <a:ea typeface="Telegraf"/>
                <a:cs typeface="Telegraf"/>
                <a:sym typeface="Telegraf"/>
              </a:rPr>
              <a:t>Presents </a:t>
            </a:r>
            <a:r>
              <a:rPr lang="en-US" sz="4398" spc="-25">
                <a:solidFill>
                  <a:srgbClr val="262626"/>
                </a:solidFill>
                <a:latin typeface="Telegraf"/>
                <a:ea typeface="Telegraf"/>
                <a:cs typeface="Telegraf"/>
                <a:sym typeface="Telegraf"/>
              </a:rPr>
              <a:t>a </a:t>
            </a:r>
            <a:r>
              <a:rPr lang="en-US" sz="4398" spc="-25">
                <a:solidFill>
                  <a:srgbClr val="1F1F1F"/>
                </a:solidFill>
                <a:latin typeface="Telegraf"/>
                <a:ea typeface="Telegraf"/>
                <a:cs typeface="Telegraf"/>
                <a:sym typeface="Telegraf"/>
              </a:rPr>
              <a:t>Diagnostic </a:t>
            </a:r>
            <a:r>
              <a:rPr lang="en-US" sz="4398" spc="-25">
                <a:solidFill>
                  <a:srgbClr val="232323"/>
                </a:solidFill>
                <a:latin typeface="Telegraf"/>
                <a:ea typeface="Telegraf"/>
                <a:cs typeface="Telegraf"/>
                <a:sym typeface="Telegraf"/>
              </a:rPr>
              <a:t>Bottleneck</a:t>
            </a:r>
          </a:p>
          <a:p>
            <a:pPr algn="l">
              <a:lnSpc>
                <a:spcPts val="2531"/>
              </a:lnSpc>
            </a:pPr>
          </a:p>
          <a:p>
            <a:pPr algn="l">
              <a:lnSpc>
                <a:spcPts val="2533"/>
              </a:lnSpc>
            </a:pPr>
            <a:r>
              <a:rPr lang="en-US" sz="2429" spc="-75">
                <a:solidFill>
                  <a:srgbClr val="000000"/>
                </a:solidFill>
                <a:latin typeface="Cambria"/>
                <a:ea typeface="Cambria"/>
                <a:cs typeface="Cambria"/>
                <a:sym typeface="Cambria"/>
              </a:rPr>
              <a:t>The traditional radiology-based diagnosis relies heavily on expert radiologists manually analyzing MRI scans. This process struggles with consistency and scalability, especially with an increasing number of dementia patients.</a:t>
            </a:r>
          </a:p>
        </p:txBody>
      </p:sp>
      <p:sp>
        <p:nvSpPr>
          <p:cNvPr name="TextBox 6" id="6"/>
          <p:cNvSpPr txBox="true"/>
          <p:nvPr/>
        </p:nvSpPr>
        <p:spPr>
          <a:xfrm rot="0">
            <a:off x="1053037" y="6733614"/>
            <a:ext cx="4177029" cy="1294531"/>
          </a:xfrm>
          <a:prstGeom prst="rect">
            <a:avLst/>
          </a:prstGeom>
        </p:spPr>
        <p:txBody>
          <a:bodyPr anchor="t" rtlCol="false" tIns="0" lIns="0" bIns="0" rIns="0">
            <a:spAutoFit/>
          </a:bodyPr>
          <a:lstStyle/>
          <a:p>
            <a:pPr algn="ctr">
              <a:lnSpc>
                <a:spcPts val="3360"/>
              </a:lnSpc>
            </a:pPr>
            <a:r>
              <a:rPr lang="en-US" sz="2800" spc="63">
                <a:solidFill>
                  <a:srgbClr val="0C0C0C"/>
                </a:solidFill>
                <a:latin typeface="Telegraf"/>
                <a:ea typeface="Telegraf"/>
                <a:cs typeface="Telegraf"/>
                <a:sym typeface="Telegraf"/>
              </a:rPr>
              <a:t>Time-Consuming</a:t>
            </a:r>
          </a:p>
          <a:p>
            <a:pPr algn="ctr">
              <a:lnSpc>
                <a:spcPts val="2473"/>
              </a:lnSpc>
            </a:pPr>
            <a:r>
              <a:rPr lang="en-US" sz="2350" spc="-45">
                <a:solidFill>
                  <a:srgbClr val="0C0C0C"/>
                </a:solidFill>
                <a:latin typeface="Cambria"/>
                <a:ea typeface="Cambria"/>
                <a:cs typeface="Cambria"/>
                <a:sym typeface="Cambria"/>
              </a:rPr>
              <a:t>Analysis requires significant expert hours per scan.</a:t>
            </a:r>
          </a:p>
        </p:txBody>
      </p:sp>
      <p:sp>
        <p:nvSpPr>
          <p:cNvPr name="TextBox 7" id="7"/>
          <p:cNvSpPr txBox="true"/>
          <p:nvPr/>
        </p:nvSpPr>
        <p:spPr>
          <a:xfrm rot="0">
            <a:off x="6813506" y="6474822"/>
            <a:ext cx="3963670" cy="1783540"/>
          </a:xfrm>
          <a:prstGeom prst="rect">
            <a:avLst/>
          </a:prstGeom>
        </p:spPr>
        <p:txBody>
          <a:bodyPr anchor="t" rtlCol="false" tIns="0" lIns="0" bIns="0" rIns="0">
            <a:spAutoFit/>
          </a:bodyPr>
          <a:lstStyle/>
          <a:p>
            <a:pPr algn="ctr">
              <a:lnSpc>
                <a:spcPts val="3720"/>
              </a:lnSpc>
            </a:pPr>
            <a:r>
              <a:rPr lang="en-US" sz="3100" spc="51">
                <a:solidFill>
                  <a:srgbClr val="111111"/>
                </a:solidFill>
                <a:latin typeface="Calibri (MS)"/>
                <a:ea typeface="Calibri (MS)"/>
                <a:cs typeface="Calibri (MS)"/>
                <a:sym typeface="Calibri (MS)"/>
              </a:rPr>
              <a:t>Subjective</a:t>
            </a:r>
          </a:p>
          <a:p>
            <a:pPr algn="ctr">
              <a:lnSpc>
                <a:spcPts val="2482"/>
              </a:lnSpc>
            </a:pPr>
            <a:r>
              <a:rPr lang="en-US" sz="2400" spc="-37">
                <a:solidFill>
                  <a:srgbClr val="111111"/>
                </a:solidFill>
                <a:latin typeface="Cambria"/>
                <a:ea typeface="Cambria"/>
                <a:cs typeface="Cambria"/>
                <a:sym typeface="Cambria"/>
              </a:rPr>
              <a:t>Interpretation can vary between radiologists, leading to inconsistencies.</a:t>
            </a:r>
          </a:p>
        </p:txBody>
      </p:sp>
      <p:sp>
        <p:nvSpPr>
          <p:cNvPr name="TextBox 8" id="8"/>
          <p:cNvSpPr txBox="true"/>
          <p:nvPr/>
        </p:nvSpPr>
        <p:spPr>
          <a:xfrm rot="0">
            <a:off x="12360616" y="6492493"/>
            <a:ext cx="3880485" cy="1748199"/>
          </a:xfrm>
          <a:prstGeom prst="rect">
            <a:avLst/>
          </a:prstGeom>
        </p:spPr>
        <p:txBody>
          <a:bodyPr anchor="t" rtlCol="false" tIns="0" lIns="0" bIns="0" rIns="0">
            <a:spAutoFit/>
          </a:bodyPr>
          <a:lstStyle/>
          <a:p>
            <a:pPr algn="ctr">
              <a:lnSpc>
                <a:spcPts val="3900"/>
              </a:lnSpc>
            </a:pPr>
            <a:r>
              <a:rPr lang="en-US" sz="3250" spc="-47">
                <a:solidFill>
                  <a:srgbClr val="0F0F0F"/>
                </a:solidFill>
                <a:latin typeface="Calibri (MS)"/>
                <a:ea typeface="Calibri (MS)"/>
                <a:cs typeface="Calibri (MS)"/>
                <a:sym typeface="Calibri (MS)"/>
              </a:rPr>
              <a:t>Error-Prone</a:t>
            </a:r>
          </a:p>
          <a:p>
            <a:pPr algn="ctr">
              <a:lnSpc>
                <a:spcPts val="2379"/>
              </a:lnSpc>
            </a:pPr>
            <a:r>
              <a:rPr lang="en-US" sz="2300" spc="-23">
                <a:solidFill>
                  <a:srgbClr val="0F0F0F"/>
                </a:solidFill>
                <a:latin typeface="Cambria"/>
                <a:ea typeface="Cambria"/>
                <a:cs typeface="Cambria"/>
                <a:sym typeface="Cambria"/>
              </a:rPr>
              <a:t>Human fatigue and subtle visual cues can lead to misinterpretation.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0F4F6"/>
        </a:solidFill>
      </p:bgPr>
    </p:bg>
    <p:spTree>
      <p:nvGrpSpPr>
        <p:cNvPr id="1" name=""/>
        <p:cNvGrpSpPr/>
        <p:nvPr/>
      </p:nvGrpSpPr>
      <p:grpSpPr>
        <a:xfrm>
          <a:off x="0" y="0"/>
          <a:ext cx="0" cy="0"/>
          <a:chOff x="0" y="0"/>
          <a:chExt cx="0" cy="0"/>
        </a:xfrm>
      </p:grpSpPr>
      <p:sp>
        <p:nvSpPr>
          <p:cNvPr name="Freeform 2" id="2"/>
          <p:cNvSpPr/>
          <p:nvPr/>
        </p:nvSpPr>
        <p:spPr>
          <a:xfrm flipH="false" flipV="false" rot="0">
            <a:off x="2445536" y="4340674"/>
            <a:ext cx="12791309" cy="4828719"/>
          </a:xfrm>
          <a:custGeom>
            <a:avLst/>
            <a:gdLst/>
            <a:ahLst/>
            <a:cxnLst/>
            <a:rect r="r" b="b" t="t" l="l"/>
            <a:pathLst>
              <a:path h="4828719" w="12791309">
                <a:moveTo>
                  <a:pt x="0" y="0"/>
                </a:moveTo>
                <a:lnTo>
                  <a:pt x="12791309" y="0"/>
                </a:lnTo>
                <a:lnTo>
                  <a:pt x="12791309" y="4828719"/>
                </a:lnTo>
                <a:lnTo>
                  <a:pt x="0" y="4828719"/>
                </a:lnTo>
                <a:lnTo>
                  <a:pt x="0" y="0"/>
                </a:lnTo>
                <a:close/>
              </a:path>
            </a:pathLst>
          </a:custGeom>
          <a:blipFill>
            <a:blip r:embed="rId2"/>
            <a:stretch>
              <a:fillRect l="0" t="0" r="0" b="0"/>
            </a:stretch>
          </a:blipFill>
        </p:spPr>
      </p:sp>
      <p:sp>
        <p:nvSpPr>
          <p:cNvPr name="TextBox 3" id="3"/>
          <p:cNvSpPr txBox="true"/>
          <p:nvPr/>
        </p:nvSpPr>
        <p:spPr>
          <a:xfrm rot="0">
            <a:off x="910177" y="631882"/>
            <a:ext cx="15314120" cy="1624965"/>
          </a:xfrm>
          <a:prstGeom prst="rect">
            <a:avLst/>
          </a:prstGeom>
        </p:spPr>
        <p:txBody>
          <a:bodyPr anchor="t" rtlCol="false" tIns="0" lIns="0" bIns="0" rIns="0">
            <a:spAutoFit/>
          </a:bodyPr>
          <a:lstStyle/>
          <a:p>
            <a:pPr algn="l">
              <a:lnSpc>
                <a:spcPts val="5220"/>
              </a:lnSpc>
            </a:pPr>
            <a:r>
              <a:rPr lang="en-US" sz="4350">
                <a:solidFill>
                  <a:srgbClr val="1C1C1C"/>
                </a:solidFill>
                <a:latin typeface="Telegraf"/>
                <a:ea typeface="Telegraf"/>
                <a:cs typeface="Telegraf"/>
                <a:sym typeface="Telegraf"/>
              </a:rPr>
              <a:t>Diagnostic </a:t>
            </a:r>
            <a:r>
              <a:rPr lang="en-US" sz="4350">
                <a:solidFill>
                  <a:srgbClr val="1F1F1F"/>
                </a:solidFill>
                <a:latin typeface="Telegraf"/>
                <a:ea typeface="Telegraf"/>
                <a:cs typeface="Telegraf"/>
                <a:sym typeface="Telegraf"/>
              </a:rPr>
              <a:t>Delays </a:t>
            </a:r>
            <a:r>
              <a:rPr lang="en-US" sz="4350">
                <a:solidFill>
                  <a:srgbClr val="212121"/>
                </a:solidFill>
                <a:latin typeface="Telegraf"/>
                <a:ea typeface="Telegraf"/>
                <a:cs typeface="Telegraf"/>
                <a:sym typeface="Telegraf"/>
              </a:rPr>
              <a:t>and </a:t>
            </a:r>
            <a:r>
              <a:rPr lang="en-US" sz="4350">
                <a:solidFill>
                  <a:srgbClr val="1A1A1A"/>
                </a:solidFill>
                <a:latin typeface="Telegraf"/>
                <a:ea typeface="Telegraf"/>
                <a:cs typeface="Telegraf"/>
                <a:sym typeface="Telegraf"/>
              </a:rPr>
              <a:t>Inaccuracies Have </a:t>
            </a:r>
            <a:r>
              <a:rPr lang="en-US" sz="4350">
                <a:solidFill>
                  <a:srgbClr val="2A2A2A"/>
                </a:solidFill>
                <a:latin typeface="Telegraf"/>
                <a:ea typeface="Telegraf"/>
                <a:cs typeface="Telegraf"/>
                <a:sym typeface="Telegraf"/>
              </a:rPr>
              <a:t>a </a:t>
            </a:r>
            <a:r>
              <a:rPr lang="en-US" sz="4350">
                <a:solidFill>
                  <a:srgbClr val="232323"/>
                </a:solidFill>
                <a:latin typeface="Telegraf"/>
                <a:ea typeface="Telegraf"/>
                <a:cs typeface="Telegraf"/>
                <a:sym typeface="Telegraf"/>
              </a:rPr>
              <a:t>Real Human Cost</a:t>
            </a:r>
          </a:p>
        </p:txBody>
      </p:sp>
      <p:sp>
        <p:nvSpPr>
          <p:cNvPr name="TextBox 4" id="4"/>
          <p:cNvSpPr txBox="true"/>
          <p:nvPr/>
        </p:nvSpPr>
        <p:spPr>
          <a:xfrm rot="0">
            <a:off x="910177" y="2523743"/>
            <a:ext cx="15036045" cy="1578610"/>
          </a:xfrm>
          <a:prstGeom prst="rect">
            <a:avLst/>
          </a:prstGeom>
        </p:spPr>
        <p:txBody>
          <a:bodyPr anchor="t" rtlCol="false" tIns="0" lIns="0" bIns="0" rIns="0">
            <a:spAutoFit/>
          </a:bodyPr>
          <a:lstStyle/>
          <a:p>
            <a:pPr algn="just">
              <a:lnSpc>
                <a:spcPts val="2585"/>
              </a:lnSpc>
            </a:pPr>
            <a:r>
              <a:rPr lang="en-US" sz="2500" spc="-120">
                <a:solidFill>
                  <a:srgbClr val="000000"/>
                </a:solidFill>
                <a:latin typeface="Cambria"/>
                <a:ea typeface="Cambria"/>
                <a:cs typeface="Cambria"/>
                <a:sym typeface="Cambria"/>
              </a:rPr>
              <a:t>Misinterpretation or delayed diagnosis leads directly to late treatment initiation, which reduces patient quality of life and the effectiveness of care plans. Furthermore, medical centers face radiologist shortages, placing the entire system under immense strain and creating a critical need for automated support systems.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0F4F6"/>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977900" y="3479800"/>
            <a:ext cx="3949700" cy="3517900"/>
            <a:chOff x="0" y="0"/>
            <a:chExt cx="5266267" cy="4690533"/>
          </a:xfrm>
        </p:grpSpPr>
        <p:sp>
          <p:nvSpPr>
            <p:cNvPr name="Freeform 3" id="3"/>
            <p:cNvSpPr/>
            <p:nvPr/>
          </p:nvSpPr>
          <p:spPr>
            <a:xfrm flipH="false" flipV="false" rot="0">
              <a:off x="0" y="0"/>
              <a:ext cx="5266309" cy="4690491"/>
            </a:xfrm>
            <a:custGeom>
              <a:avLst/>
              <a:gdLst/>
              <a:ahLst/>
              <a:cxnLst/>
              <a:rect r="r" b="b" t="t" l="l"/>
              <a:pathLst>
                <a:path h="4690491" w="5266309">
                  <a:moveTo>
                    <a:pt x="0" y="0"/>
                  </a:moveTo>
                  <a:lnTo>
                    <a:pt x="5266309" y="0"/>
                  </a:lnTo>
                  <a:lnTo>
                    <a:pt x="5266309" y="4690491"/>
                  </a:lnTo>
                  <a:lnTo>
                    <a:pt x="0" y="4690491"/>
                  </a:lnTo>
                  <a:lnTo>
                    <a:pt x="0" y="0"/>
                  </a:lnTo>
                  <a:close/>
                </a:path>
              </a:pathLst>
            </a:custGeom>
            <a:blipFill>
              <a:blip r:embed="rId2"/>
              <a:stretch>
                <a:fillRect l="0" t="0" r="0" b="0"/>
              </a:stretch>
            </a:blipFill>
          </p:spPr>
        </p:sp>
      </p:grpSp>
      <p:grpSp>
        <p:nvGrpSpPr>
          <p:cNvPr name="Group 4" id="4"/>
          <p:cNvGrpSpPr>
            <a:grpSpLocks noChangeAspect="true"/>
          </p:cNvGrpSpPr>
          <p:nvPr/>
        </p:nvGrpSpPr>
        <p:grpSpPr>
          <a:xfrm rot="0">
            <a:off x="5143500" y="4978400"/>
            <a:ext cx="1612900" cy="876300"/>
            <a:chOff x="0" y="0"/>
            <a:chExt cx="2150533" cy="1168400"/>
          </a:xfrm>
        </p:grpSpPr>
        <p:sp>
          <p:nvSpPr>
            <p:cNvPr name="Freeform 5" id="5"/>
            <p:cNvSpPr/>
            <p:nvPr/>
          </p:nvSpPr>
          <p:spPr>
            <a:xfrm flipH="false" flipV="false" rot="0">
              <a:off x="0" y="0"/>
              <a:ext cx="2150491" cy="1168400"/>
            </a:xfrm>
            <a:custGeom>
              <a:avLst/>
              <a:gdLst/>
              <a:ahLst/>
              <a:cxnLst/>
              <a:rect r="r" b="b" t="t" l="l"/>
              <a:pathLst>
                <a:path h="1168400" w="2150491">
                  <a:moveTo>
                    <a:pt x="0" y="0"/>
                  </a:moveTo>
                  <a:lnTo>
                    <a:pt x="2150491" y="0"/>
                  </a:lnTo>
                  <a:lnTo>
                    <a:pt x="2150491" y="1168400"/>
                  </a:lnTo>
                  <a:lnTo>
                    <a:pt x="0" y="1168400"/>
                  </a:lnTo>
                  <a:lnTo>
                    <a:pt x="0" y="0"/>
                  </a:lnTo>
                  <a:close/>
                </a:path>
              </a:pathLst>
            </a:custGeom>
            <a:blipFill>
              <a:blip r:embed="rId3"/>
              <a:stretch>
                <a:fillRect l="0" t="0" r="-1" b="0"/>
              </a:stretch>
            </a:blipFill>
          </p:spPr>
        </p:sp>
      </p:grpSp>
      <p:grpSp>
        <p:nvGrpSpPr>
          <p:cNvPr name="Group 6" id="6"/>
          <p:cNvGrpSpPr>
            <a:grpSpLocks noChangeAspect="true"/>
          </p:cNvGrpSpPr>
          <p:nvPr/>
        </p:nvGrpSpPr>
        <p:grpSpPr>
          <a:xfrm rot="0">
            <a:off x="6934200" y="3378200"/>
            <a:ext cx="5422900" cy="4038600"/>
            <a:chOff x="0" y="0"/>
            <a:chExt cx="7230533" cy="5384800"/>
          </a:xfrm>
        </p:grpSpPr>
        <p:sp>
          <p:nvSpPr>
            <p:cNvPr name="Freeform 7" id="7"/>
            <p:cNvSpPr/>
            <p:nvPr/>
          </p:nvSpPr>
          <p:spPr>
            <a:xfrm flipH="false" flipV="false" rot="0">
              <a:off x="0" y="0"/>
              <a:ext cx="7230491" cy="5384800"/>
            </a:xfrm>
            <a:custGeom>
              <a:avLst/>
              <a:gdLst/>
              <a:ahLst/>
              <a:cxnLst/>
              <a:rect r="r" b="b" t="t" l="l"/>
              <a:pathLst>
                <a:path h="5384800" w="7230491">
                  <a:moveTo>
                    <a:pt x="0" y="0"/>
                  </a:moveTo>
                  <a:lnTo>
                    <a:pt x="7230491" y="0"/>
                  </a:lnTo>
                  <a:lnTo>
                    <a:pt x="7230491" y="5384800"/>
                  </a:lnTo>
                  <a:lnTo>
                    <a:pt x="0" y="5384800"/>
                  </a:lnTo>
                  <a:lnTo>
                    <a:pt x="0" y="0"/>
                  </a:lnTo>
                  <a:close/>
                </a:path>
              </a:pathLst>
            </a:custGeom>
            <a:blipFill>
              <a:blip r:embed="rId4"/>
              <a:stretch>
                <a:fillRect l="0" t="0" r="0" b="0"/>
              </a:stretch>
            </a:blipFill>
          </p:spPr>
        </p:sp>
      </p:grpSp>
      <p:grpSp>
        <p:nvGrpSpPr>
          <p:cNvPr name="Group 8" id="8"/>
          <p:cNvGrpSpPr>
            <a:grpSpLocks noChangeAspect="true"/>
          </p:cNvGrpSpPr>
          <p:nvPr/>
        </p:nvGrpSpPr>
        <p:grpSpPr>
          <a:xfrm rot="0">
            <a:off x="12496800" y="6654800"/>
            <a:ext cx="4038600" cy="990600"/>
            <a:chOff x="0" y="0"/>
            <a:chExt cx="5384800" cy="1320800"/>
          </a:xfrm>
        </p:grpSpPr>
        <p:sp>
          <p:nvSpPr>
            <p:cNvPr name="Freeform 9" id="9"/>
            <p:cNvSpPr/>
            <p:nvPr/>
          </p:nvSpPr>
          <p:spPr>
            <a:xfrm flipH="false" flipV="false" rot="0">
              <a:off x="0" y="0"/>
              <a:ext cx="5384800" cy="1320800"/>
            </a:xfrm>
            <a:custGeom>
              <a:avLst/>
              <a:gdLst/>
              <a:ahLst/>
              <a:cxnLst/>
              <a:rect r="r" b="b" t="t" l="l"/>
              <a:pathLst>
                <a:path h="1320800" w="5384800">
                  <a:moveTo>
                    <a:pt x="0" y="0"/>
                  </a:moveTo>
                  <a:lnTo>
                    <a:pt x="5384800" y="0"/>
                  </a:lnTo>
                  <a:lnTo>
                    <a:pt x="5384800" y="1320800"/>
                  </a:lnTo>
                  <a:lnTo>
                    <a:pt x="0" y="1320800"/>
                  </a:lnTo>
                  <a:lnTo>
                    <a:pt x="0" y="0"/>
                  </a:lnTo>
                  <a:close/>
                </a:path>
              </a:pathLst>
            </a:custGeom>
            <a:blipFill>
              <a:blip r:embed="rId5"/>
              <a:stretch>
                <a:fillRect l="0" t="0" r="0" b="0"/>
              </a:stretch>
            </a:blipFill>
          </p:spPr>
        </p:sp>
      </p:grpSp>
      <p:grpSp>
        <p:nvGrpSpPr>
          <p:cNvPr name="Group 10" id="10"/>
          <p:cNvGrpSpPr>
            <a:grpSpLocks noChangeAspect="true"/>
          </p:cNvGrpSpPr>
          <p:nvPr/>
        </p:nvGrpSpPr>
        <p:grpSpPr>
          <a:xfrm rot="0">
            <a:off x="12484100" y="5422900"/>
            <a:ext cx="4076700" cy="1079500"/>
            <a:chOff x="0" y="0"/>
            <a:chExt cx="5435600" cy="1439333"/>
          </a:xfrm>
        </p:grpSpPr>
        <p:sp>
          <p:nvSpPr>
            <p:cNvPr name="Freeform 11" id="11"/>
            <p:cNvSpPr/>
            <p:nvPr/>
          </p:nvSpPr>
          <p:spPr>
            <a:xfrm flipH="false" flipV="false" rot="0">
              <a:off x="0" y="0"/>
              <a:ext cx="5435600" cy="1439291"/>
            </a:xfrm>
            <a:custGeom>
              <a:avLst/>
              <a:gdLst/>
              <a:ahLst/>
              <a:cxnLst/>
              <a:rect r="r" b="b" t="t" l="l"/>
              <a:pathLst>
                <a:path h="1439291" w="5435600">
                  <a:moveTo>
                    <a:pt x="0" y="0"/>
                  </a:moveTo>
                  <a:lnTo>
                    <a:pt x="5435600" y="0"/>
                  </a:lnTo>
                  <a:lnTo>
                    <a:pt x="5435600" y="1439291"/>
                  </a:lnTo>
                  <a:lnTo>
                    <a:pt x="0" y="1439291"/>
                  </a:lnTo>
                  <a:lnTo>
                    <a:pt x="0" y="0"/>
                  </a:lnTo>
                  <a:close/>
                </a:path>
              </a:pathLst>
            </a:custGeom>
            <a:blipFill>
              <a:blip r:embed="rId6"/>
              <a:stretch>
                <a:fillRect l="0" t="0" r="0" b="-2"/>
              </a:stretch>
            </a:blipFill>
          </p:spPr>
        </p:sp>
      </p:grpSp>
      <p:grpSp>
        <p:nvGrpSpPr>
          <p:cNvPr name="Group 12" id="12"/>
          <p:cNvGrpSpPr>
            <a:grpSpLocks noChangeAspect="true"/>
          </p:cNvGrpSpPr>
          <p:nvPr/>
        </p:nvGrpSpPr>
        <p:grpSpPr>
          <a:xfrm rot="0">
            <a:off x="12496800" y="4318000"/>
            <a:ext cx="4038600" cy="990600"/>
            <a:chOff x="0" y="0"/>
            <a:chExt cx="5384800" cy="1320800"/>
          </a:xfrm>
        </p:grpSpPr>
        <p:sp>
          <p:nvSpPr>
            <p:cNvPr name="Freeform 13" id="13"/>
            <p:cNvSpPr/>
            <p:nvPr/>
          </p:nvSpPr>
          <p:spPr>
            <a:xfrm flipH="false" flipV="false" rot="0">
              <a:off x="0" y="0"/>
              <a:ext cx="5384800" cy="1320800"/>
            </a:xfrm>
            <a:custGeom>
              <a:avLst/>
              <a:gdLst/>
              <a:ahLst/>
              <a:cxnLst/>
              <a:rect r="r" b="b" t="t" l="l"/>
              <a:pathLst>
                <a:path h="1320800" w="5384800">
                  <a:moveTo>
                    <a:pt x="0" y="0"/>
                  </a:moveTo>
                  <a:lnTo>
                    <a:pt x="5384800" y="0"/>
                  </a:lnTo>
                  <a:lnTo>
                    <a:pt x="5384800" y="1320800"/>
                  </a:lnTo>
                  <a:lnTo>
                    <a:pt x="0" y="1320800"/>
                  </a:lnTo>
                  <a:lnTo>
                    <a:pt x="0" y="0"/>
                  </a:lnTo>
                  <a:close/>
                </a:path>
              </a:pathLst>
            </a:custGeom>
            <a:blipFill>
              <a:blip r:embed="rId7"/>
              <a:stretch>
                <a:fillRect l="0" t="0" r="0" b="0"/>
              </a:stretch>
            </a:blipFill>
          </p:spPr>
        </p:sp>
      </p:grpSp>
      <p:grpSp>
        <p:nvGrpSpPr>
          <p:cNvPr name="Group 14" id="14"/>
          <p:cNvGrpSpPr>
            <a:grpSpLocks noChangeAspect="true"/>
          </p:cNvGrpSpPr>
          <p:nvPr/>
        </p:nvGrpSpPr>
        <p:grpSpPr>
          <a:xfrm rot="0">
            <a:off x="12484100" y="3124200"/>
            <a:ext cx="4076700" cy="1041400"/>
            <a:chOff x="0" y="0"/>
            <a:chExt cx="5435600" cy="1388533"/>
          </a:xfrm>
        </p:grpSpPr>
        <p:sp>
          <p:nvSpPr>
            <p:cNvPr name="Freeform 15" id="15"/>
            <p:cNvSpPr/>
            <p:nvPr/>
          </p:nvSpPr>
          <p:spPr>
            <a:xfrm flipH="false" flipV="false" rot="0">
              <a:off x="0" y="0"/>
              <a:ext cx="5435600" cy="1388491"/>
            </a:xfrm>
            <a:custGeom>
              <a:avLst/>
              <a:gdLst/>
              <a:ahLst/>
              <a:cxnLst/>
              <a:rect r="r" b="b" t="t" l="l"/>
              <a:pathLst>
                <a:path h="1388491" w="5435600">
                  <a:moveTo>
                    <a:pt x="0" y="0"/>
                  </a:moveTo>
                  <a:lnTo>
                    <a:pt x="5435600" y="0"/>
                  </a:lnTo>
                  <a:lnTo>
                    <a:pt x="5435600" y="1388491"/>
                  </a:lnTo>
                  <a:lnTo>
                    <a:pt x="0" y="1388491"/>
                  </a:lnTo>
                  <a:lnTo>
                    <a:pt x="0" y="0"/>
                  </a:lnTo>
                  <a:close/>
                </a:path>
              </a:pathLst>
            </a:custGeom>
            <a:blipFill>
              <a:blip r:embed="rId8"/>
              <a:stretch>
                <a:fillRect l="0" t="0" r="0" b="-3"/>
              </a:stretch>
            </a:blipFill>
          </p:spPr>
        </p:sp>
      </p:grpSp>
      <p:sp>
        <p:nvSpPr>
          <p:cNvPr name="TextBox 16" id="16"/>
          <p:cNvSpPr txBox="true"/>
          <p:nvPr/>
        </p:nvSpPr>
        <p:spPr>
          <a:xfrm rot="0">
            <a:off x="910177" y="815975"/>
            <a:ext cx="15788005" cy="676275"/>
          </a:xfrm>
          <a:prstGeom prst="rect">
            <a:avLst/>
          </a:prstGeom>
        </p:spPr>
        <p:txBody>
          <a:bodyPr anchor="t" rtlCol="false" tIns="0" lIns="0" bIns="0" rIns="0">
            <a:spAutoFit/>
          </a:bodyPr>
          <a:lstStyle/>
          <a:p>
            <a:pPr algn="l">
              <a:lnSpc>
                <a:spcPts val="4140"/>
              </a:lnSpc>
            </a:pPr>
            <a:r>
              <a:rPr lang="en-US" sz="3450" spc="-118">
                <a:solidFill>
                  <a:srgbClr val="1A1A1A"/>
                </a:solidFill>
                <a:latin typeface="Telegraf"/>
                <a:ea typeface="Telegraf"/>
                <a:cs typeface="Telegraf"/>
                <a:sym typeface="Telegraf"/>
              </a:rPr>
              <a:t>Neurolnsight-Classifier: </a:t>
            </a:r>
            <a:r>
              <a:rPr lang="en-US" sz="3450" spc="-118">
                <a:solidFill>
                  <a:srgbClr val="1C1C1C"/>
                </a:solidFill>
                <a:latin typeface="Telegraf"/>
                <a:ea typeface="Telegraf"/>
                <a:cs typeface="Telegraf"/>
                <a:sym typeface="Telegraf"/>
              </a:rPr>
              <a:t>An </a:t>
            </a:r>
            <a:r>
              <a:rPr lang="en-US" sz="3450" spc="-118">
                <a:solidFill>
                  <a:srgbClr val="181818"/>
                </a:solidFill>
                <a:latin typeface="Telegraf"/>
                <a:ea typeface="Telegraf"/>
                <a:cs typeface="Telegraf"/>
                <a:sym typeface="Telegraf"/>
              </a:rPr>
              <a:t>Automated, </a:t>
            </a:r>
            <a:r>
              <a:rPr lang="en-US" sz="3450" spc="-118">
                <a:solidFill>
                  <a:srgbClr val="151515"/>
                </a:solidFill>
                <a:latin typeface="Telegraf"/>
                <a:ea typeface="Telegraf"/>
                <a:cs typeface="Telegraf"/>
                <a:sym typeface="Telegraf"/>
              </a:rPr>
              <a:t>Reliable, </a:t>
            </a:r>
            <a:r>
              <a:rPr lang="en-US" sz="3450" spc="-118">
                <a:solidFill>
                  <a:srgbClr val="1C1C1C"/>
                </a:solidFill>
                <a:latin typeface="Telegraf"/>
                <a:ea typeface="Telegraf"/>
                <a:cs typeface="Telegraf"/>
                <a:sym typeface="Telegraf"/>
              </a:rPr>
              <a:t>and </a:t>
            </a:r>
            <a:r>
              <a:rPr lang="en-US" sz="3450" spc="-118">
                <a:solidFill>
                  <a:srgbClr val="181818"/>
                </a:solidFill>
                <a:latin typeface="Telegraf"/>
                <a:ea typeface="Telegraf"/>
                <a:cs typeface="Telegraf"/>
                <a:sym typeface="Telegraf"/>
              </a:rPr>
              <a:t>Scalable Solution</a:t>
            </a:r>
          </a:p>
        </p:txBody>
      </p:sp>
      <p:sp>
        <p:nvSpPr>
          <p:cNvPr name="TextBox 17" id="17"/>
          <p:cNvSpPr txBox="true"/>
          <p:nvPr/>
        </p:nvSpPr>
        <p:spPr>
          <a:xfrm rot="0">
            <a:off x="910323" y="1771508"/>
            <a:ext cx="15470505" cy="1187041"/>
          </a:xfrm>
          <a:prstGeom prst="rect">
            <a:avLst/>
          </a:prstGeom>
        </p:spPr>
        <p:txBody>
          <a:bodyPr anchor="t" rtlCol="false" tIns="0" lIns="0" bIns="0" rIns="0">
            <a:spAutoFit/>
          </a:bodyPr>
          <a:lstStyle/>
          <a:p>
            <a:pPr algn="l">
              <a:lnSpc>
                <a:spcPts val="2593"/>
              </a:lnSpc>
            </a:pPr>
            <a:r>
              <a:rPr lang="en-US" sz="2550" spc="-51">
                <a:solidFill>
                  <a:srgbClr val="000000"/>
                </a:solidFill>
                <a:latin typeface="Cambria"/>
                <a:ea typeface="Cambria"/>
                <a:cs typeface="Cambria"/>
                <a:sym typeface="Cambria"/>
              </a:rPr>
              <a:t>We present an AI-powered deep learning approach using MRI brain scan classification to automate Alzheimer's diagnosis. The system is designed to provide faster and more accurate support for medical professionals.</a:t>
            </a:r>
          </a:p>
        </p:txBody>
      </p:sp>
      <p:sp>
        <p:nvSpPr>
          <p:cNvPr name="TextBox 18" id="18"/>
          <p:cNvSpPr txBox="true"/>
          <p:nvPr/>
        </p:nvSpPr>
        <p:spPr>
          <a:xfrm rot="0">
            <a:off x="1810998" y="7143679"/>
            <a:ext cx="12240260" cy="1813560"/>
          </a:xfrm>
          <a:prstGeom prst="rect">
            <a:avLst/>
          </a:prstGeom>
        </p:spPr>
        <p:txBody>
          <a:bodyPr anchor="t" rtlCol="false" tIns="0" lIns="0" bIns="0" rIns="0">
            <a:spAutoFit/>
          </a:bodyPr>
          <a:lstStyle/>
          <a:p>
            <a:pPr algn="l">
              <a:lnSpc>
                <a:spcPts val="3660"/>
              </a:lnSpc>
            </a:pPr>
            <a:r>
              <a:rPr lang="en-US" sz="3050" spc="-10">
                <a:solidFill>
                  <a:srgbClr val="000000"/>
                </a:solidFill>
                <a:latin typeface="Cambria"/>
                <a:ea typeface="Cambria"/>
                <a:cs typeface="Cambria"/>
                <a:sym typeface="Cambria"/>
              </a:rPr>
              <a:t>[MRI </a:t>
            </a:r>
            <a:r>
              <a:rPr lang="en-US" sz="3050" spc="-10">
                <a:solidFill>
                  <a:srgbClr val="0C0C0C"/>
                </a:solidFill>
                <a:latin typeface="Cambria"/>
                <a:ea typeface="Cambria"/>
                <a:cs typeface="Cambria"/>
                <a:sym typeface="Cambria"/>
              </a:rPr>
              <a:t>Scan Input]</a:t>
            </a:r>
          </a:p>
          <a:p>
            <a:pPr algn="l">
              <a:lnSpc>
                <a:spcPts val="3719"/>
              </a:lnSpc>
            </a:pPr>
          </a:p>
          <a:p>
            <a:pPr algn="l">
              <a:lnSpc>
                <a:spcPts val="3000"/>
              </a:lnSpc>
            </a:pPr>
            <a:r>
              <a:rPr lang="en-US" sz="3099" spc="-174">
                <a:solidFill>
                  <a:srgbClr val="0C0C0C"/>
                </a:solidFill>
                <a:latin typeface="Cambria"/>
                <a:ea typeface="Cambria"/>
                <a:cs typeface="Cambria"/>
                <a:sym typeface="Cambria"/>
              </a:rPr>
              <a:t>The model learns to identify structural brain abnormalities from MRI scans and predicts one of four distinct classes.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0F4F6"/>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8089279" y="6343733"/>
            <a:ext cx="8356600" cy="2527300"/>
            <a:chOff x="0" y="0"/>
            <a:chExt cx="11142133" cy="3369733"/>
          </a:xfrm>
        </p:grpSpPr>
        <p:sp>
          <p:nvSpPr>
            <p:cNvPr name="Freeform 3" id="3"/>
            <p:cNvSpPr/>
            <p:nvPr/>
          </p:nvSpPr>
          <p:spPr>
            <a:xfrm flipH="false" flipV="false" rot="0">
              <a:off x="0" y="0"/>
              <a:ext cx="11142091" cy="3369691"/>
            </a:xfrm>
            <a:custGeom>
              <a:avLst/>
              <a:gdLst/>
              <a:ahLst/>
              <a:cxnLst/>
              <a:rect r="r" b="b" t="t" l="l"/>
              <a:pathLst>
                <a:path h="3369691" w="11142091">
                  <a:moveTo>
                    <a:pt x="0" y="0"/>
                  </a:moveTo>
                  <a:lnTo>
                    <a:pt x="11142091" y="0"/>
                  </a:lnTo>
                  <a:lnTo>
                    <a:pt x="11142091" y="3369691"/>
                  </a:lnTo>
                  <a:lnTo>
                    <a:pt x="0" y="3369691"/>
                  </a:lnTo>
                  <a:lnTo>
                    <a:pt x="0" y="0"/>
                  </a:lnTo>
                  <a:close/>
                </a:path>
              </a:pathLst>
            </a:custGeom>
            <a:blipFill>
              <a:blip r:embed="rId2"/>
              <a:stretch>
                <a:fillRect l="0" t="0" r="0" b="-1"/>
              </a:stretch>
            </a:blipFill>
          </p:spPr>
        </p:sp>
      </p:grpSp>
      <p:sp>
        <p:nvSpPr>
          <p:cNvPr name="TextBox 4" id="4"/>
          <p:cNvSpPr txBox="true"/>
          <p:nvPr/>
        </p:nvSpPr>
        <p:spPr>
          <a:xfrm rot="0">
            <a:off x="878260" y="501508"/>
            <a:ext cx="14889430" cy="1419225"/>
          </a:xfrm>
          <a:prstGeom prst="rect">
            <a:avLst/>
          </a:prstGeom>
        </p:spPr>
        <p:txBody>
          <a:bodyPr anchor="t" rtlCol="false" tIns="0" lIns="0" bIns="0" rIns="0">
            <a:spAutoFit/>
          </a:bodyPr>
          <a:lstStyle/>
          <a:p>
            <a:pPr algn="l">
              <a:lnSpc>
                <a:spcPts val="4500"/>
              </a:lnSpc>
            </a:pPr>
            <a:r>
              <a:rPr lang="en-US" sz="3750" spc="54">
                <a:solidFill>
                  <a:srgbClr val="1F1F1F"/>
                </a:solidFill>
                <a:latin typeface="Telegraf"/>
                <a:ea typeface="Telegraf"/>
                <a:cs typeface="Telegraf"/>
                <a:sym typeface="Telegraf"/>
              </a:rPr>
              <a:t>Engineered </a:t>
            </a:r>
            <a:r>
              <a:rPr lang="en-US" sz="3750" spc="54">
                <a:solidFill>
                  <a:srgbClr val="1D1D1D"/>
                </a:solidFill>
                <a:latin typeface="Telegraf"/>
                <a:ea typeface="Telegraf"/>
                <a:cs typeface="Telegraf"/>
                <a:sym typeface="Telegraf"/>
              </a:rPr>
              <a:t>for </a:t>
            </a:r>
            <a:r>
              <a:rPr lang="en-US" sz="3750" spc="54">
                <a:solidFill>
                  <a:srgbClr val="1F1F1F"/>
                </a:solidFill>
                <a:latin typeface="Telegraf"/>
                <a:ea typeface="Telegraf"/>
                <a:cs typeface="Telegraf"/>
                <a:sym typeface="Telegraf"/>
              </a:rPr>
              <a:t>Diagnostic </a:t>
            </a:r>
            <a:r>
              <a:rPr lang="en-US" sz="3750" spc="54">
                <a:solidFill>
                  <a:srgbClr val="1C1C1C"/>
                </a:solidFill>
                <a:latin typeface="Telegraf"/>
                <a:ea typeface="Telegraf"/>
                <a:cs typeface="Telegraf"/>
                <a:sym typeface="Telegraf"/>
              </a:rPr>
              <a:t>Accuracy and Clinical Impact</a:t>
            </a:r>
          </a:p>
        </p:txBody>
      </p:sp>
      <p:sp>
        <p:nvSpPr>
          <p:cNvPr name="TextBox 5" id="5"/>
          <p:cNvSpPr txBox="true"/>
          <p:nvPr/>
        </p:nvSpPr>
        <p:spPr>
          <a:xfrm rot="0">
            <a:off x="860682" y="1650882"/>
            <a:ext cx="6566366" cy="8041005"/>
          </a:xfrm>
          <a:prstGeom prst="rect">
            <a:avLst/>
          </a:prstGeom>
        </p:spPr>
        <p:txBody>
          <a:bodyPr anchor="t" rtlCol="false" tIns="0" lIns="0" bIns="0" rIns="0">
            <a:spAutoFit/>
          </a:bodyPr>
          <a:lstStyle/>
          <a:p>
            <a:pPr algn="l">
              <a:lnSpc>
                <a:spcPts val="4800"/>
              </a:lnSpc>
            </a:pPr>
            <a:r>
              <a:rPr lang="en-US" sz="3200" spc="48">
                <a:solidFill>
                  <a:srgbClr val="0C0C0C"/>
                </a:solidFill>
                <a:latin typeface="Telegraf"/>
                <a:ea typeface="Telegraf"/>
                <a:cs typeface="Telegraf"/>
                <a:sym typeface="Telegraf"/>
              </a:rPr>
              <a:t>Project </a:t>
            </a:r>
            <a:r>
              <a:rPr lang="en-US" sz="3200" spc="48">
                <a:solidFill>
                  <a:srgbClr val="131313"/>
                </a:solidFill>
                <a:latin typeface="Telegraf"/>
                <a:ea typeface="Telegraf"/>
                <a:cs typeface="Telegraf"/>
                <a:sym typeface="Telegraf"/>
              </a:rPr>
              <a:t>Objectives</a:t>
            </a:r>
          </a:p>
          <a:p>
            <a:pPr algn="l" marL="626112" indent="-313056" lvl="1">
              <a:lnSpc>
                <a:spcPts val="4350"/>
              </a:lnSpc>
              <a:buFont typeface="Arial"/>
              <a:buChar char="•"/>
            </a:pPr>
            <a:r>
              <a:rPr lang="en-US" sz="2900" spc="-107">
                <a:solidFill>
                  <a:srgbClr val="003462"/>
                </a:solidFill>
                <a:latin typeface="Cambria"/>
                <a:ea typeface="Cambria"/>
                <a:cs typeface="Cambria"/>
                <a:sym typeface="Cambria"/>
              </a:rPr>
              <a:t>Build a high-performance Alzheimer's classification model.</a:t>
            </a:r>
          </a:p>
          <a:p>
            <a:pPr algn="l" marL="626112" indent="-313056" lvl="1">
              <a:lnSpc>
                <a:spcPts val="4350"/>
              </a:lnSpc>
              <a:buFont typeface="Arial"/>
              <a:buChar char="•"/>
            </a:pPr>
            <a:r>
              <a:rPr lang="en-US" sz="2900" spc="-107">
                <a:solidFill>
                  <a:srgbClr val="003462"/>
                </a:solidFill>
                <a:latin typeface="Cambria"/>
                <a:ea typeface="Cambria"/>
                <a:cs typeface="Cambria"/>
                <a:sym typeface="Cambria"/>
              </a:rPr>
              <a:t>Classify MRI images into multiple dementia severity categories.</a:t>
            </a:r>
          </a:p>
          <a:p>
            <a:pPr algn="l" marL="626112" indent="-313056" lvl="1">
              <a:lnSpc>
                <a:spcPts val="4350"/>
              </a:lnSpc>
              <a:buFont typeface="Arial"/>
              <a:buChar char="•"/>
            </a:pPr>
            <a:r>
              <a:rPr lang="en-US" sz="2900" spc="-107">
                <a:solidFill>
                  <a:srgbClr val="003462"/>
                </a:solidFill>
                <a:latin typeface="Cambria"/>
                <a:ea typeface="Cambria"/>
                <a:cs typeface="Cambria"/>
                <a:sym typeface="Cambria"/>
              </a:rPr>
              <a:t>Automate and improve diagnostic reliability </a:t>
            </a:r>
            <a:r>
              <a:rPr lang="en-US" sz="2900" i="true" spc="-107">
                <a:solidFill>
                  <a:srgbClr val="003462"/>
                </a:solidFill>
                <a:latin typeface="Cambria Italics"/>
                <a:ea typeface="Cambria Italics"/>
                <a:cs typeface="Cambria Italics"/>
                <a:sym typeface="Cambria Italics"/>
              </a:rPr>
              <a:t>over </a:t>
            </a:r>
            <a:r>
              <a:rPr lang="en-US" sz="2900" spc="-107">
                <a:solidFill>
                  <a:srgbClr val="003462"/>
                </a:solidFill>
                <a:latin typeface="Cambria"/>
                <a:ea typeface="Cambria"/>
                <a:cs typeface="Cambria"/>
                <a:sym typeface="Cambria"/>
              </a:rPr>
              <a:t>manual assessment.</a:t>
            </a:r>
          </a:p>
          <a:p>
            <a:pPr algn="l" marL="626112" indent="-313056" lvl="1">
              <a:lnSpc>
                <a:spcPts val="4350"/>
              </a:lnSpc>
              <a:buFont typeface="Arial"/>
              <a:buChar char="•"/>
            </a:pPr>
            <a:r>
              <a:rPr lang="en-US" sz="2900" spc="-107">
                <a:solidFill>
                  <a:srgbClr val="003462"/>
                </a:solidFill>
                <a:latin typeface="Cambria"/>
                <a:ea typeface="Cambria"/>
                <a:cs typeface="Cambria"/>
                <a:sym typeface="Cambria"/>
              </a:rPr>
              <a:t>Deliver a reproducible, research ready workflow for academic use.</a:t>
            </a:r>
          </a:p>
          <a:p>
            <a:pPr algn="l">
              <a:lnSpc>
                <a:spcPts val="4350"/>
              </a:lnSpc>
            </a:pPr>
          </a:p>
        </p:txBody>
      </p:sp>
      <p:sp>
        <p:nvSpPr>
          <p:cNvPr name="TextBox 6" id="6"/>
          <p:cNvSpPr txBox="true"/>
          <p:nvPr/>
        </p:nvSpPr>
        <p:spPr>
          <a:xfrm rot="0">
            <a:off x="8108329" y="1746132"/>
            <a:ext cx="8197850" cy="3217326"/>
          </a:xfrm>
          <a:prstGeom prst="rect">
            <a:avLst/>
          </a:prstGeom>
        </p:spPr>
        <p:txBody>
          <a:bodyPr anchor="t" rtlCol="false" tIns="0" lIns="0" bIns="0" rIns="0">
            <a:spAutoFit/>
          </a:bodyPr>
          <a:lstStyle/>
          <a:p>
            <a:pPr algn="l">
              <a:lnSpc>
                <a:spcPts val="3840"/>
              </a:lnSpc>
            </a:pPr>
            <a:r>
              <a:rPr lang="en-US" sz="3200" spc="67">
                <a:solidFill>
                  <a:srgbClr val="161616"/>
                </a:solidFill>
                <a:latin typeface="Telegraf"/>
                <a:ea typeface="Telegraf"/>
                <a:cs typeface="Telegraf"/>
                <a:sym typeface="Telegraf"/>
              </a:rPr>
              <a:t>Core </a:t>
            </a:r>
            <a:r>
              <a:rPr lang="en-US" sz="3200" spc="67">
                <a:solidFill>
                  <a:srgbClr val="181818"/>
                </a:solidFill>
                <a:latin typeface="Telegraf"/>
                <a:ea typeface="Telegraf"/>
                <a:cs typeface="Telegraf"/>
                <a:sym typeface="Telegraf"/>
              </a:rPr>
              <a:t>Architecture</a:t>
            </a:r>
          </a:p>
          <a:p>
            <a:pPr algn="l">
              <a:lnSpc>
                <a:spcPts val="2809"/>
              </a:lnSpc>
            </a:pPr>
            <a:r>
              <a:rPr lang="en-US" sz="2550" spc="53">
                <a:solidFill>
                  <a:srgbClr val="181818"/>
                </a:solidFill>
                <a:latin typeface="Cambria"/>
                <a:ea typeface="Cambria"/>
                <a:cs typeface="Cambria"/>
                <a:sym typeface="Cambria"/>
              </a:rPr>
              <a:t>Method: A Convolutional Neural Network (CNN) using ResNet-50 Transfer Learning.</a:t>
            </a:r>
          </a:p>
          <a:p>
            <a:pPr algn="l">
              <a:lnSpc>
                <a:spcPts val="2853"/>
              </a:lnSpc>
            </a:pPr>
            <a:r>
              <a:rPr lang="en-US" sz="2550" spc="53">
                <a:solidFill>
                  <a:srgbClr val="181818"/>
                </a:solidFill>
                <a:latin typeface="Cambria"/>
                <a:ea typeface="Cambria"/>
                <a:cs typeface="Cambria"/>
                <a:sym typeface="Cambria"/>
              </a:rPr>
              <a:t>Rationale: Leverages the powerful feature extraction capabilities of a model pre-trained on the vast ImageNet dataset, fine-tuned specifically for this medical imaging task.</a:t>
            </a:r>
          </a:p>
        </p:txBody>
      </p:sp>
      <p:sp>
        <p:nvSpPr>
          <p:cNvPr name="TextBox 7" id="7"/>
          <p:cNvSpPr txBox="true"/>
          <p:nvPr/>
        </p:nvSpPr>
        <p:spPr>
          <a:xfrm rot="0">
            <a:off x="8089279" y="8883790"/>
            <a:ext cx="3853418" cy="648640"/>
          </a:xfrm>
          <a:prstGeom prst="rect">
            <a:avLst/>
          </a:prstGeom>
        </p:spPr>
        <p:txBody>
          <a:bodyPr anchor="t" rtlCol="false" tIns="0" lIns="0" bIns="0" rIns="0">
            <a:spAutoFit/>
          </a:bodyPr>
          <a:lstStyle/>
          <a:p>
            <a:pPr algn="ctr">
              <a:lnSpc>
                <a:spcPts val="2137"/>
              </a:lnSpc>
            </a:pPr>
            <a:r>
              <a:rPr lang="en-US" sz="1800">
                <a:solidFill>
                  <a:srgbClr val="000000"/>
                </a:solidFill>
                <a:latin typeface="Telegraf"/>
                <a:ea typeface="Telegraf"/>
                <a:cs typeface="Telegraf"/>
                <a:sym typeface="Telegraf"/>
              </a:rPr>
              <a:t>Pre-trained ResNet-SO</a:t>
            </a:r>
          </a:p>
          <a:p>
            <a:pPr algn="ctr">
              <a:lnSpc>
                <a:spcPts val="1957"/>
              </a:lnSpc>
            </a:pPr>
            <a:r>
              <a:rPr lang="en-US" sz="1650" spc="-8">
                <a:solidFill>
                  <a:srgbClr val="000000"/>
                </a:solidFill>
                <a:latin typeface="Telegraf"/>
                <a:ea typeface="Telegraf"/>
                <a:cs typeface="Telegraf"/>
                <a:sym typeface="Telegraf"/>
              </a:rPr>
              <a:t>on ImageHet</a:t>
            </a:r>
          </a:p>
        </p:txBody>
      </p:sp>
      <p:sp>
        <p:nvSpPr>
          <p:cNvPr name="TextBox 8" id="8"/>
          <p:cNvSpPr txBox="true"/>
          <p:nvPr/>
        </p:nvSpPr>
        <p:spPr>
          <a:xfrm rot="0">
            <a:off x="15383898" y="8902840"/>
            <a:ext cx="1522730" cy="575182"/>
          </a:xfrm>
          <a:prstGeom prst="rect">
            <a:avLst/>
          </a:prstGeom>
        </p:spPr>
        <p:txBody>
          <a:bodyPr anchor="t" rtlCol="false" tIns="0" lIns="0" bIns="0" rIns="0">
            <a:spAutoFit/>
          </a:bodyPr>
          <a:lstStyle/>
          <a:p>
            <a:pPr algn="ctr">
              <a:lnSpc>
                <a:spcPts val="1935"/>
              </a:lnSpc>
            </a:pPr>
            <a:r>
              <a:rPr lang="en-US" sz="1650" spc="-8">
                <a:solidFill>
                  <a:srgbClr val="0A2A46"/>
                </a:solidFill>
                <a:latin typeface="Cambria"/>
                <a:ea typeface="Cambria"/>
                <a:cs typeface="Cambria"/>
                <a:sym typeface="Cambria"/>
              </a:rPr>
              <a:t>4 </a:t>
            </a:r>
            <a:r>
              <a:rPr lang="en-US" sz="1650" spc="-8">
                <a:solidFill>
                  <a:srgbClr val="1F1F1F"/>
                </a:solidFill>
                <a:latin typeface="Cambria"/>
                <a:ea typeface="Cambria"/>
                <a:cs typeface="Cambria"/>
                <a:sym typeface="Cambria"/>
              </a:rPr>
              <a:t>Alzheimer's</a:t>
            </a:r>
          </a:p>
          <a:p>
            <a:pPr algn="ctr">
              <a:lnSpc>
                <a:spcPts val="1816"/>
              </a:lnSpc>
            </a:pPr>
            <a:r>
              <a:rPr lang="en-US" sz="1550" spc="83">
                <a:solidFill>
                  <a:srgbClr val="0A2842"/>
                </a:solidFill>
                <a:latin typeface="Cambria"/>
                <a:ea typeface="Cambria"/>
                <a:cs typeface="Cambria"/>
                <a:sym typeface="Cambria"/>
              </a:rPr>
              <a:t>Classes</a:t>
            </a:r>
          </a:p>
        </p:txBody>
      </p:sp>
      <p:sp>
        <p:nvSpPr>
          <p:cNvPr name="TextBox 9" id="9"/>
          <p:cNvSpPr txBox="true"/>
          <p:nvPr/>
        </p:nvSpPr>
        <p:spPr>
          <a:xfrm rot="0">
            <a:off x="12604166" y="6068072"/>
            <a:ext cx="1546213" cy="551323"/>
          </a:xfrm>
          <a:prstGeom prst="rect">
            <a:avLst/>
          </a:prstGeom>
        </p:spPr>
        <p:txBody>
          <a:bodyPr anchor="t" rtlCol="false" tIns="0" lIns="0" bIns="0" rIns="0">
            <a:spAutoFit/>
          </a:bodyPr>
          <a:lstStyle/>
          <a:p>
            <a:pPr algn="ctr">
              <a:lnSpc>
                <a:spcPts val="1798"/>
              </a:lnSpc>
              <a:spcBef>
                <a:spcPct val="0"/>
              </a:spcBef>
            </a:pPr>
            <a:r>
              <a:rPr lang="en-US" sz="1550" spc="-4">
                <a:solidFill>
                  <a:srgbClr val="9C803B"/>
                </a:solidFill>
                <a:latin typeface="Cambria"/>
                <a:ea typeface="Cambria"/>
                <a:cs typeface="Cambria"/>
                <a:sym typeface="Cambria"/>
              </a:rPr>
              <a:t>Last Layers Removed</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0F4F6"/>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244600" y="3467100"/>
            <a:ext cx="5283200" cy="2298700"/>
            <a:chOff x="0" y="0"/>
            <a:chExt cx="7044267" cy="3064933"/>
          </a:xfrm>
        </p:grpSpPr>
        <p:sp>
          <p:nvSpPr>
            <p:cNvPr name="Freeform 3" id="3"/>
            <p:cNvSpPr/>
            <p:nvPr/>
          </p:nvSpPr>
          <p:spPr>
            <a:xfrm flipH="false" flipV="false" rot="0">
              <a:off x="0" y="0"/>
              <a:ext cx="7044309" cy="3064891"/>
            </a:xfrm>
            <a:custGeom>
              <a:avLst/>
              <a:gdLst/>
              <a:ahLst/>
              <a:cxnLst/>
              <a:rect r="r" b="b" t="t" l="l"/>
              <a:pathLst>
                <a:path h="3064891" w="7044309">
                  <a:moveTo>
                    <a:pt x="0" y="0"/>
                  </a:moveTo>
                  <a:lnTo>
                    <a:pt x="7044309" y="0"/>
                  </a:lnTo>
                  <a:lnTo>
                    <a:pt x="7044309" y="3064891"/>
                  </a:lnTo>
                  <a:lnTo>
                    <a:pt x="0" y="3064891"/>
                  </a:lnTo>
                  <a:lnTo>
                    <a:pt x="0" y="0"/>
                  </a:lnTo>
                  <a:close/>
                </a:path>
              </a:pathLst>
            </a:custGeom>
            <a:blipFill>
              <a:blip r:embed="rId2"/>
              <a:stretch>
                <a:fillRect l="0" t="0" r="0" b="-1"/>
              </a:stretch>
            </a:blipFill>
          </p:spPr>
        </p:sp>
      </p:grpSp>
      <p:grpSp>
        <p:nvGrpSpPr>
          <p:cNvPr name="Group 4" id="4"/>
          <p:cNvGrpSpPr>
            <a:grpSpLocks noChangeAspect="true"/>
          </p:cNvGrpSpPr>
          <p:nvPr/>
        </p:nvGrpSpPr>
        <p:grpSpPr>
          <a:xfrm rot="0">
            <a:off x="1244600" y="3467100"/>
            <a:ext cx="5283200" cy="2298700"/>
            <a:chOff x="0" y="0"/>
            <a:chExt cx="7044267" cy="3064933"/>
          </a:xfrm>
        </p:grpSpPr>
        <p:sp>
          <p:nvSpPr>
            <p:cNvPr name="Freeform 5" id="5"/>
            <p:cNvSpPr/>
            <p:nvPr/>
          </p:nvSpPr>
          <p:spPr>
            <a:xfrm flipH="false" flipV="false" rot="0">
              <a:off x="0" y="0"/>
              <a:ext cx="7044309" cy="3064891"/>
            </a:xfrm>
            <a:custGeom>
              <a:avLst/>
              <a:gdLst/>
              <a:ahLst/>
              <a:cxnLst/>
              <a:rect r="r" b="b" t="t" l="l"/>
              <a:pathLst>
                <a:path h="3064891" w="7044309">
                  <a:moveTo>
                    <a:pt x="0" y="0"/>
                  </a:moveTo>
                  <a:lnTo>
                    <a:pt x="7044309" y="0"/>
                  </a:lnTo>
                  <a:lnTo>
                    <a:pt x="7044309" y="3064891"/>
                  </a:lnTo>
                  <a:lnTo>
                    <a:pt x="0" y="3064891"/>
                  </a:lnTo>
                  <a:lnTo>
                    <a:pt x="0" y="0"/>
                  </a:lnTo>
                  <a:close/>
                </a:path>
              </a:pathLst>
            </a:custGeom>
            <a:blipFill>
              <a:blip r:embed="rId3"/>
              <a:stretch>
                <a:fillRect l="0" t="-4" r="0" b="-5"/>
              </a:stretch>
            </a:blipFill>
          </p:spPr>
        </p:sp>
      </p:grpSp>
      <p:grpSp>
        <p:nvGrpSpPr>
          <p:cNvPr name="Group 6" id="6"/>
          <p:cNvGrpSpPr>
            <a:grpSpLocks noChangeAspect="true"/>
          </p:cNvGrpSpPr>
          <p:nvPr/>
        </p:nvGrpSpPr>
        <p:grpSpPr>
          <a:xfrm rot="0">
            <a:off x="7467600" y="3721100"/>
            <a:ext cx="1930400" cy="1930400"/>
            <a:chOff x="0" y="0"/>
            <a:chExt cx="2573867" cy="2573867"/>
          </a:xfrm>
        </p:grpSpPr>
        <p:sp>
          <p:nvSpPr>
            <p:cNvPr name="Freeform 7" id="7"/>
            <p:cNvSpPr/>
            <p:nvPr/>
          </p:nvSpPr>
          <p:spPr>
            <a:xfrm flipH="false" flipV="false" rot="0">
              <a:off x="0" y="0"/>
              <a:ext cx="2573909" cy="2573909"/>
            </a:xfrm>
            <a:custGeom>
              <a:avLst/>
              <a:gdLst/>
              <a:ahLst/>
              <a:cxnLst/>
              <a:rect r="r" b="b" t="t" l="l"/>
              <a:pathLst>
                <a:path h="2573909" w="2573909">
                  <a:moveTo>
                    <a:pt x="0" y="0"/>
                  </a:moveTo>
                  <a:lnTo>
                    <a:pt x="2573909" y="0"/>
                  </a:lnTo>
                  <a:lnTo>
                    <a:pt x="2573909" y="2573909"/>
                  </a:lnTo>
                  <a:lnTo>
                    <a:pt x="0" y="2573909"/>
                  </a:lnTo>
                  <a:lnTo>
                    <a:pt x="0" y="0"/>
                  </a:lnTo>
                  <a:close/>
                </a:path>
              </a:pathLst>
            </a:custGeom>
            <a:blipFill>
              <a:blip r:embed="rId4"/>
              <a:stretch>
                <a:fillRect l="0" t="0" r="1" b="1"/>
              </a:stretch>
            </a:blipFill>
          </p:spPr>
        </p:sp>
      </p:grpSp>
      <p:grpSp>
        <p:nvGrpSpPr>
          <p:cNvPr name="Group 8" id="8"/>
          <p:cNvGrpSpPr>
            <a:grpSpLocks noChangeAspect="true"/>
          </p:cNvGrpSpPr>
          <p:nvPr/>
        </p:nvGrpSpPr>
        <p:grpSpPr>
          <a:xfrm rot="0">
            <a:off x="9931400" y="3746500"/>
            <a:ext cx="1409700" cy="1422400"/>
            <a:chOff x="0" y="0"/>
            <a:chExt cx="1879600" cy="1896533"/>
          </a:xfrm>
        </p:grpSpPr>
        <p:sp>
          <p:nvSpPr>
            <p:cNvPr name="Freeform 9" id="9"/>
            <p:cNvSpPr/>
            <p:nvPr/>
          </p:nvSpPr>
          <p:spPr>
            <a:xfrm flipH="false" flipV="false" rot="0">
              <a:off x="0" y="0"/>
              <a:ext cx="1879600" cy="1896491"/>
            </a:xfrm>
            <a:custGeom>
              <a:avLst/>
              <a:gdLst/>
              <a:ahLst/>
              <a:cxnLst/>
              <a:rect r="r" b="b" t="t" l="l"/>
              <a:pathLst>
                <a:path h="1896491" w="1879600">
                  <a:moveTo>
                    <a:pt x="0" y="0"/>
                  </a:moveTo>
                  <a:lnTo>
                    <a:pt x="1879600" y="0"/>
                  </a:lnTo>
                  <a:lnTo>
                    <a:pt x="1879600" y="1896491"/>
                  </a:lnTo>
                  <a:lnTo>
                    <a:pt x="0" y="1896491"/>
                  </a:lnTo>
                  <a:lnTo>
                    <a:pt x="0" y="0"/>
                  </a:lnTo>
                  <a:close/>
                </a:path>
              </a:pathLst>
            </a:custGeom>
            <a:blipFill>
              <a:blip r:embed="rId5"/>
              <a:stretch>
                <a:fillRect l="0" t="0" r="0" b="-2"/>
              </a:stretch>
            </a:blipFill>
          </p:spPr>
        </p:sp>
      </p:grpSp>
      <p:grpSp>
        <p:nvGrpSpPr>
          <p:cNvPr name="Group 10" id="10"/>
          <p:cNvGrpSpPr>
            <a:grpSpLocks noChangeAspect="true"/>
          </p:cNvGrpSpPr>
          <p:nvPr/>
        </p:nvGrpSpPr>
        <p:grpSpPr>
          <a:xfrm rot="0">
            <a:off x="9486900" y="4343400"/>
            <a:ext cx="1447800" cy="635000"/>
            <a:chOff x="0" y="0"/>
            <a:chExt cx="1930400" cy="846667"/>
          </a:xfrm>
        </p:grpSpPr>
        <p:sp>
          <p:nvSpPr>
            <p:cNvPr name="Freeform 11" id="11"/>
            <p:cNvSpPr/>
            <p:nvPr/>
          </p:nvSpPr>
          <p:spPr>
            <a:xfrm flipH="false" flipV="false" rot="0">
              <a:off x="0" y="0"/>
              <a:ext cx="1930400" cy="846709"/>
            </a:xfrm>
            <a:custGeom>
              <a:avLst/>
              <a:gdLst/>
              <a:ahLst/>
              <a:cxnLst/>
              <a:rect r="r" b="b" t="t" l="l"/>
              <a:pathLst>
                <a:path h="846709" w="1930400">
                  <a:moveTo>
                    <a:pt x="0" y="0"/>
                  </a:moveTo>
                  <a:lnTo>
                    <a:pt x="1930400" y="0"/>
                  </a:lnTo>
                  <a:lnTo>
                    <a:pt x="1930400" y="846709"/>
                  </a:lnTo>
                  <a:lnTo>
                    <a:pt x="0" y="846709"/>
                  </a:lnTo>
                  <a:lnTo>
                    <a:pt x="0" y="0"/>
                  </a:lnTo>
                  <a:close/>
                </a:path>
              </a:pathLst>
            </a:custGeom>
            <a:blipFill>
              <a:blip r:embed="rId6"/>
              <a:stretch>
                <a:fillRect l="0" t="0" r="0" b="4"/>
              </a:stretch>
            </a:blipFill>
          </p:spPr>
        </p:sp>
      </p:grpSp>
      <p:grpSp>
        <p:nvGrpSpPr>
          <p:cNvPr name="Group 12" id="12"/>
          <p:cNvGrpSpPr>
            <a:grpSpLocks noChangeAspect="true"/>
          </p:cNvGrpSpPr>
          <p:nvPr/>
        </p:nvGrpSpPr>
        <p:grpSpPr>
          <a:xfrm rot="0">
            <a:off x="12738100" y="3797300"/>
            <a:ext cx="3225800" cy="1765300"/>
            <a:chOff x="0" y="0"/>
            <a:chExt cx="4301067" cy="2353733"/>
          </a:xfrm>
        </p:grpSpPr>
        <p:sp>
          <p:nvSpPr>
            <p:cNvPr name="Freeform 13" id="13"/>
            <p:cNvSpPr/>
            <p:nvPr/>
          </p:nvSpPr>
          <p:spPr>
            <a:xfrm flipH="false" flipV="false" rot="0">
              <a:off x="0" y="0"/>
              <a:ext cx="4301109" cy="2353691"/>
            </a:xfrm>
            <a:custGeom>
              <a:avLst/>
              <a:gdLst/>
              <a:ahLst/>
              <a:cxnLst/>
              <a:rect r="r" b="b" t="t" l="l"/>
              <a:pathLst>
                <a:path h="2353691" w="4301109">
                  <a:moveTo>
                    <a:pt x="0" y="0"/>
                  </a:moveTo>
                  <a:lnTo>
                    <a:pt x="4301109" y="0"/>
                  </a:lnTo>
                  <a:lnTo>
                    <a:pt x="4301109" y="2353691"/>
                  </a:lnTo>
                  <a:lnTo>
                    <a:pt x="0" y="2353691"/>
                  </a:lnTo>
                  <a:lnTo>
                    <a:pt x="0" y="0"/>
                  </a:lnTo>
                  <a:close/>
                </a:path>
              </a:pathLst>
            </a:custGeom>
            <a:blipFill>
              <a:blip r:embed="rId7"/>
              <a:stretch>
                <a:fillRect l="0" t="0" r="0" b="-1"/>
              </a:stretch>
            </a:blipFill>
          </p:spPr>
        </p:sp>
      </p:grpSp>
      <p:sp>
        <p:nvSpPr>
          <p:cNvPr name="TextBox 14" id="14"/>
          <p:cNvSpPr txBox="true"/>
          <p:nvPr/>
        </p:nvSpPr>
        <p:spPr>
          <a:xfrm rot="0">
            <a:off x="958883" y="866281"/>
            <a:ext cx="13706475" cy="2756346"/>
          </a:xfrm>
          <a:prstGeom prst="rect">
            <a:avLst/>
          </a:prstGeom>
        </p:spPr>
        <p:txBody>
          <a:bodyPr anchor="t" rtlCol="false" tIns="0" lIns="0" bIns="0" rIns="0">
            <a:spAutoFit/>
          </a:bodyPr>
          <a:lstStyle/>
          <a:p>
            <a:pPr algn="l">
              <a:lnSpc>
                <a:spcPts val="5704"/>
              </a:lnSpc>
            </a:pPr>
            <a:r>
              <a:rPr lang="en-US" sz="5150" spc="-89">
                <a:solidFill>
                  <a:srgbClr val="212121"/>
                </a:solidFill>
                <a:latin typeface="Telegraf"/>
                <a:ea typeface="Telegraf"/>
                <a:cs typeface="Telegraf"/>
                <a:sym typeface="Telegraf"/>
              </a:rPr>
              <a:t>The </a:t>
            </a:r>
            <a:r>
              <a:rPr lang="en-US" sz="5150" spc="-89">
                <a:solidFill>
                  <a:srgbClr val="232323"/>
                </a:solidFill>
                <a:latin typeface="Telegraf"/>
                <a:ea typeface="Telegraf"/>
                <a:cs typeface="Telegraf"/>
                <a:sym typeface="Telegraf"/>
              </a:rPr>
              <a:t>Workflow, Part </a:t>
            </a:r>
            <a:r>
              <a:rPr lang="en-US" sz="5150" spc="-89">
                <a:solidFill>
                  <a:srgbClr val="262626"/>
                </a:solidFill>
                <a:latin typeface="Telegraf"/>
                <a:ea typeface="Telegraf"/>
                <a:cs typeface="Telegraf"/>
                <a:sym typeface="Telegraf"/>
              </a:rPr>
              <a:t>1: </a:t>
            </a:r>
            <a:r>
              <a:rPr lang="en-US" sz="5150" spc="-89">
                <a:solidFill>
                  <a:srgbClr val="212121"/>
                </a:solidFill>
                <a:latin typeface="Telegraf"/>
                <a:ea typeface="Telegraf"/>
                <a:cs typeface="Telegraf"/>
                <a:sym typeface="Telegraf"/>
              </a:rPr>
              <a:t>Fueling </a:t>
            </a:r>
            <a:r>
              <a:rPr lang="en-US" sz="5150" spc="-89">
                <a:solidFill>
                  <a:srgbClr val="1F1F1F"/>
                </a:solidFill>
                <a:latin typeface="Telegraf"/>
                <a:ea typeface="Telegraf"/>
                <a:cs typeface="Telegraf"/>
                <a:sym typeface="Telegraf"/>
              </a:rPr>
              <a:t>the </a:t>
            </a:r>
            <a:r>
              <a:rPr lang="en-US" sz="5150" spc="-89">
                <a:solidFill>
                  <a:srgbClr val="212121"/>
                </a:solidFill>
                <a:latin typeface="Telegraf"/>
                <a:ea typeface="Telegraf"/>
                <a:cs typeface="Telegraf"/>
                <a:sym typeface="Telegraf"/>
              </a:rPr>
              <a:t>Model</a:t>
            </a:r>
          </a:p>
          <a:p>
            <a:pPr algn="l">
              <a:lnSpc>
                <a:spcPts val="6238"/>
              </a:lnSpc>
            </a:pPr>
            <a:r>
              <a:rPr lang="en-US" sz="5600" spc="-378">
                <a:solidFill>
                  <a:srgbClr val="232323"/>
                </a:solidFill>
                <a:latin typeface="Telegraf"/>
                <a:ea typeface="Telegraf"/>
                <a:cs typeface="Telegraf"/>
                <a:sym typeface="Telegraf"/>
              </a:rPr>
              <a:t>with </a:t>
            </a:r>
            <a:r>
              <a:rPr lang="en-US" sz="5600" spc="-378">
                <a:solidFill>
                  <a:srgbClr val="212121"/>
                </a:solidFill>
                <a:latin typeface="Telegraf"/>
                <a:ea typeface="Telegraf"/>
                <a:cs typeface="Telegraf"/>
                <a:sym typeface="Telegraf"/>
              </a:rPr>
              <a:t>a </a:t>
            </a:r>
            <a:r>
              <a:rPr lang="en-US" sz="5600" spc="-378">
                <a:solidFill>
                  <a:srgbClr val="1F1F1F"/>
                </a:solidFill>
                <a:latin typeface="Telegraf"/>
                <a:ea typeface="Telegraf"/>
                <a:cs typeface="Telegraf"/>
                <a:sym typeface="Telegraf"/>
              </a:rPr>
              <a:t>Prepared Dataset</a:t>
            </a:r>
          </a:p>
        </p:txBody>
      </p:sp>
      <p:sp>
        <p:nvSpPr>
          <p:cNvPr name="TextBox 15" id="15"/>
          <p:cNvSpPr txBox="true"/>
          <p:nvPr/>
        </p:nvSpPr>
        <p:spPr>
          <a:xfrm rot="0">
            <a:off x="1259866" y="6455284"/>
            <a:ext cx="4953000" cy="2631201"/>
          </a:xfrm>
          <a:prstGeom prst="rect">
            <a:avLst/>
          </a:prstGeom>
        </p:spPr>
        <p:txBody>
          <a:bodyPr anchor="t" rtlCol="false" tIns="0" lIns="0" bIns="0" rIns="0">
            <a:spAutoFit/>
          </a:bodyPr>
          <a:lstStyle/>
          <a:p>
            <a:pPr algn="l">
              <a:lnSpc>
                <a:spcPts val="3060"/>
              </a:lnSpc>
            </a:pPr>
            <a:r>
              <a:rPr lang="en-US" sz="2550" spc="40">
                <a:solidFill>
                  <a:srgbClr val="0A283F"/>
                </a:solidFill>
                <a:latin typeface="Telegraf"/>
                <a:ea typeface="Telegraf"/>
                <a:cs typeface="Telegraf"/>
                <a:sym typeface="Telegraf"/>
              </a:rPr>
              <a:t>1. </a:t>
            </a:r>
            <a:r>
              <a:rPr lang="en-US" sz="2550" spc="40">
                <a:solidFill>
                  <a:srgbClr val="082D46"/>
                </a:solidFill>
                <a:latin typeface="Telegraf"/>
                <a:ea typeface="Telegraf"/>
                <a:cs typeface="Telegraf"/>
                <a:sym typeface="Telegraf"/>
              </a:rPr>
              <a:t>Dataset </a:t>
            </a:r>
            <a:r>
              <a:rPr lang="en-US" sz="2550" spc="40">
                <a:solidFill>
                  <a:srgbClr val="032644"/>
                </a:solidFill>
                <a:latin typeface="Telegraf"/>
                <a:ea typeface="Telegraf"/>
                <a:cs typeface="Telegraf"/>
                <a:sym typeface="Telegraf"/>
              </a:rPr>
              <a:t>Acquisition</a:t>
            </a:r>
          </a:p>
          <a:p>
            <a:pPr algn="l">
              <a:lnSpc>
                <a:spcPts val="2331"/>
              </a:lnSpc>
            </a:pPr>
          </a:p>
          <a:p>
            <a:pPr algn="l">
              <a:lnSpc>
                <a:spcPts val="2333"/>
              </a:lnSpc>
            </a:pPr>
            <a:r>
              <a:rPr lang="en-US" sz="2200" spc="-10">
                <a:solidFill>
                  <a:srgbClr val="032644"/>
                </a:solidFill>
                <a:latin typeface="Telegraf"/>
                <a:ea typeface="Telegraf"/>
                <a:cs typeface="Telegraf"/>
                <a:sym typeface="Telegraf"/>
              </a:rPr>
              <a:t>Sourced from the public OASIS </a:t>
            </a:r>
            <a:r>
              <a:rPr lang="en-US" sz="2200" spc="-10">
                <a:solidFill>
                  <a:srgbClr val="0C0C0C"/>
                </a:solidFill>
                <a:latin typeface="Telegraf"/>
                <a:ea typeface="Telegraf"/>
                <a:cs typeface="Telegraf"/>
                <a:sym typeface="Telegraf"/>
              </a:rPr>
              <a:t>/ Kaggle Brain </a:t>
            </a:r>
            <a:r>
              <a:rPr lang="en-US" sz="2200" spc="-10">
                <a:solidFill>
                  <a:srgbClr val="111111"/>
                </a:solidFill>
                <a:latin typeface="Telegraf"/>
                <a:ea typeface="Telegraf"/>
                <a:cs typeface="Telegraf"/>
                <a:sym typeface="Telegraf"/>
              </a:rPr>
              <a:t>MRI dataset, containing labeled scans categorized by dementia severity for supervised training.</a:t>
            </a:r>
          </a:p>
        </p:txBody>
      </p:sp>
      <p:sp>
        <p:nvSpPr>
          <p:cNvPr name="TextBox 16" id="16"/>
          <p:cNvSpPr txBox="true"/>
          <p:nvPr/>
        </p:nvSpPr>
        <p:spPr>
          <a:xfrm rot="0">
            <a:off x="8100571" y="3444381"/>
            <a:ext cx="647700" cy="229870"/>
          </a:xfrm>
          <a:prstGeom prst="rect">
            <a:avLst/>
          </a:prstGeom>
        </p:spPr>
        <p:txBody>
          <a:bodyPr anchor="t" rtlCol="false" tIns="0" lIns="0" bIns="0" rIns="0">
            <a:spAutoFit/>
          </a:bodyPr>
          <a:lstStyle/>
          <a:p>
            <a:pPr algn="l">
              <a:lnSpc>
                <a:spcPts val="1620"/>
              </a:lnSpc>
            </a:pPr>
            <a:r>
              <a:rPr lang="en-US" sz="1350" spc="-113">
                <a:solidFill>
                  <a:srgbClr val="000000"/>
                </a:solidFill>
                <a:latin typeface="Courier New"/>
                <a:ea typeface="Courier New"/>
                <a:cs typeface="Courier New"/>
                <a:sym typeface="Courier New"/>
              </a:rPr>
              <a:t>224x224</a:t>
            </a:r>
          </a:p>
        </p:txBody>
      </p:sp>
      <p:sp>
        <p:nvSpPr>
          <p:cNvPr name="TextBox 17" id="17"/>
          <p:cNvSpPr txBox="true"/>
          <p:nvPr/>
        </p:nvSpPr>
        <p:spPr>
          <a:xfrm rot="0">
            <a:off x="10124743" y="5200172"/>
            <a:ext cx="996950" cy="521970"/>
          </a:xfrm>
          <a:prstGeom prst="rect">
            <a:avLst/>
          </a:prstGeom>
        </p:spPr>
        <p:txBody>
          <a:bodyPr anchor="t" rtlCol="false" tIns="0" lIns="0" bIns="0" rIns="0">
            <a:spAutoFit/>
          </a:bodyPr>
          <a:lstStyle/>
          <a:p>
            <a:pPr algn="l">
              <a:lnSpc>
                <a:spcPts val="1739"/>
              </a:lnSpc>
            </a:pPr>
            <a:r>
              <a:rPr lang="en-US" sz="1450" spc="-10">
                <a:solidFill>
                  <a:srgbClr val="161616"/>
                </a:solidFill>
                <a:latin typeface="Telegraf"/>
                <a:ea typeface="Telegraf"/>
                <a:cs typeface="Telegraf"/>
                <a:sym typeface="Telegraf"/>
              </a:rPr>
              <a:t>Training</a:t>
            </a:r>
          </a:p>
          <a:p>
            <a:pPr algn="l">
              <a:lnSpc>
                <a:spcPts val="1620"/>
              </a:lnSpc>
            </a:pPr>
            <a:r>
              <a:rPr lang="en-US" sz="1350" spc="-10">
                <a:solidFill>
                  <a:srgbClr val="161616"/>
                </a:solidFill>
                <a:latin typeface="Telegraf"/>
                <a:ea typeface="Telegraf"/>
                <a:cs typeface="Telegraf"/>
                <a:sym typeface="Telegraf"/>
              </a:rPr>
              <a:t>Validation</a:t>
            </a:r>
          </a:p>
        </p:txBody>
      </p:sp>
      <p:sp>
        <p:nvSpPr>
          <p:cNvPr name="TextBox 18" id="18"/>
          <p:cNvSpPr txBox="true"/>
          <p:nvPr/>
        </p:nvSpPr>
        <p:spPr>
          <a:xfrm rot="0">
            <a:off x="6879024" y="6279896"/>
            <a:ext cx="4805509" cy="2981976"/>
          </a:xfrm>
          <a:prstGeom prst="rect">
            <a:avLst/>
          </a:prstGeom>
        </p:spPr>
        <p:txBody>
          <a:bodyPr anchor="t" rtlCol="false" tIns="0" lIns="0" bIns="0" rIns="0">
            <a:spAutoFit/>
          </a:bodyPr>
          <a:lstStyle/>
          <a:p>
            <a:pPr algn="just">
              <a:lnSpc>
                <a:spcPts val="3060"/>
              </a:lnSpc>
            </a:pPr>
            <a:r>
              <a:rPr lang="en-US" sz="2550" spc="-10">
                <a:solidFill>
                  <a:srgbClr val="052844"/>
                </a:solidFill>
                <a:latin typeface="Telegraf"/>
                <a:ea typeface="Telegraf"/>
                <a:cs typeface="Telegraf"/>
                <a:sym typeface="Telegraf"/>
              </a:rPr>
              <a:t>2. </a:t>
            </a:r>
            <a:r>
              <a:rPr lang="en-US" sz="2550" spc="-10">
                <a:solidFill>
                  <a:srgbClr val="0C2D49"/>
                </a:solidFill>
                <a:latin typeface="Telegraf"/>
                <a:ea typeface="Telegraf"/>
                <a:cs typeface="Telegraf"/>
                <a:sym typeface="Telegraf"/>
              </a:rPr>
              <a:t>Data </a:t>
            </a:r>
            <a:r>
              <a:rPr lang="en-US" sz="2550" spc="-10">
                <a:solidFill>
                  <a:srgbClr val="082842"/>
                </a:solidFill>
                <a:latin typeface="Telegraf"/>
                <a:ea typeface="Telegraf"/>
                <a:cs typeface="Telegraf"/>
                <a:sym typeface="Telegraf"/>
              </a:rPr>
              <a:t>Preprocessing</a:t>
            </a:r>
          </a:p>
          <a:p>
            <a:pPr algn="just">
              <a:lnSpc>
                <a:spcPts val="2329"/>
              </a:lnSpc>
            </a:pPr>
            <a:r>
              <a:rPr lang="en-US" sz="2150" spc="-10">
                <a:solidFill>
                  <a:srgbClr val="082842"/>
                </a:solidFill>
                <a:latin typeface="Telegraf"/>
                <a:ea typeface="Telegraf"/>
                <a:cs typeface="Telegraf"/>
                <a:sym typeface="Telegraf"/>
              </a:rPr>
              <a:t>Images were resized to 224x224 pixels for CNN compatibility. Pixel normaliza-tion was applied to improve training stability. The dataset was split into 80% for training and 20% for validation.</a:t>
            </a:r>
          </a:p>
        </p:txBody>
      </p:sp>
      <p:sp>
        <p:nvSpPr>
          <p:cNvPr name="TextBox 19" id="19"/>
          <p:cNvSpPr txBox="true"/>
          <p:nvPr/>
        </p:nvSpPr>
        <p:spPr>
          <a:xfrm rot="0">
            <a:off x="12350691" y="6304498"/>
            <a:ext cx="4164329" cy="2923249"/>
          </a:xfrm>
          <a:prstGeom prst="rect">
            <a:avLst/>
          </a:prstGeom>
        </p:spPr>
        <p:txBody>
          <a:bodyPr anchor="t" rtlCol="false" tIns="0" lIns="0" bIns="0" rIns="0">
            <a:spAutoFit/>
          </a:bodyPr>
          <a:lstStyle/>
          <a:p>
            <a:pPr algn="l">
              <a:lnSpc>
                <a:spcPts val="3120"/>
              </a:lnSpc>
            </a:pPr>
            <a:r>
              <a:rPr lang="en-US" sz="2600" spc="-10">
                <a:solidFill>
                  <a:srgbClr val="0A2D49"/>
                </a:solidFill>
                <a:latin typeface="Telegraf"/>
                <a:ea typeface="Telegraf"/>
                <a:cs typeface="Telegraf"/>
                <a:sym typeface="Telegraf"/>
              </a:rPr>
              <a:t>3. </a:t>
            </a:r>
            <a:r>
              <a:rPr lang="en-US" sz="2600" spc="-10">
                <a:solidFill>
                  <a:srgbClr val="0F2F50"/>
                </a:solidFill>
                <a:latin typeface="Telegraf"/>
                <a:ea typeface="Telegraf"/>
                <a:cs typeface="Telegraf"/>
                <a:sym typeface="Telegraf"/>
              </a:rPr>
              <a:t>Data </a:t>
            </a:r>
            <a:r>
              <a:rPr lang="en-US" sz="2600" spc="-10">
                <a:solidFill>
                  <a:srgbClr val="0A3152"/>
                </a:solidFill>
                <a:latin typeface="Telegraf"/>
                <a:ea typeface="Telegraf"/>
                <a:cs typeface="Telegraf"/>
                <a:sym typeface="Telegraf"/>
              </a:rPr>
              <a:t>Augmentation</a:t>
            </a:r>
          </a:p>
          <a:p>
            <a:pPr algn="l">
              <a:lnSpc>
                <a:spcPts val="2324"/>
              </a:lnSpc>
            </a:pPr>
            <a:r>
              <a:rPr lang="en-US" sz="2150" spc="-10">
                <a:solidFill>
                  <a:srgbClr val="0A3152"/>
                </a:solidFill>
                <a:latin typeface="Telegraf"/>
                <a:ea typeface="Telegraf"/>
                <a:cs typeface="Telegraf"/>
                <a:sym typeface="Telegraf"/>
              </a:rPr>
              <a:t>To address class imbalance and improve model generalization, techniques like random rotation, flipping, and shifting were applied to the training set.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0F4F6"/>
        </a:solidFill>
      </p:bgPr>
    </p:bg>
    <p:spTree>
      <p:nvGrpSpPr>
        <p:cNvPr id="1" name=""/>
        <p:cNvGrpSpPr/>
        <p:nvPr/>
      </p:nvGrpSpPr>
      <p:grpSpPr>
        <a:xfrm>
          <a:off x="0" y="0"/>
          <a:ext cx="0" cy="0"/>
          <a:chOff x="0" y="0"/>
          <a:chExt cx="0" cy="0"/>
        </a:xfrm>
      </p:grpSpPr>
      <p:sp>
        <p:nvSpPr>
          <p:cNvPr name="TextBox 2" id="2"/>
          <p:cNvSpPr txBox="true"/>
          <p:nvPr/>
        </p:nvSpPr>
        <p:spPr>
          <a:xfrm rot="0">
            <a:off x="963685" y="1907705"/>
            <a:ext cx="15019019" cy="1644815"/>
          </a:xfrm>
          <a:prstGeom prst="rect">
            <a:avLst/>
          </a:prstGeom>
        </p:spPr>
        <p:txBody>
          <a:bodyPr anchor="t" rtlCol="false" tIns="0" lIns="0" bIns="0" rIns="0">
            <a:spAutoFit/>
          </a:bodyPr>
          <a:lstStyle/>
          <a:p>
            <a:pPr algn="l">
              <a:lnSpc>
                <a:spcPts val="3653"/>
              </a:lnSpc>
            </a:pPr>
            <a:r>
              <a:rPr lang="en-US" sz="2850" spc="-94">
                <a:solidFill>
                  <a:srgbClr val="000000"/>
                </a:solidFill>
                <a:latin typeface="Cambria"/>
                <a:ea typeface="Cambria"/>
                <a:cs typeface="Cambria"/>
                <a:sym typeface="Cambria"/>
              </a:rPr>
              <a:t>The model was trained for multiple epochs using a PyTorch DataLoader pipeline for efficient mini-batch processing. Real-time monitoring of training and validation curves guided the process.</a:t>
            </a:r>
          </a:p>
        </p:txBody>
      </p:sp>
      <p:grpSp>
        <p:nvGrpSpPr>
          <p:cNvPr name="Group 3" id="3"/>
          <p:cNvGrpSpPr>
            <a:grpSpLocks noChangeAspect="true"/>
          </p:cNvGrpSpPr>
          <p:nvPr/>
        </p:nvGrpSpPr>
        <p:grpSpPr>
          <a:xfrm rot="0">
            <a:off x="9461500" y="3746500"/>
            <a:ext cx="7035800" cy="5041900"/>
            <a:chOff x="0" y="0"/>
            <a:chExt cx="9381067" cy="6722533"/>
          </a:xfrm>
        </p:grpSpPr>
        <p:sp>
          <p:nvSpPr>
            <p:cNvPr name="Freeform 4" id="4"/>
            <p:cNvSpPr/>
            <p:nvPr/>
          </p:nvSpPr>
          <p:spPr>
            <a:xfrm flipH="false" flipV="false" rot="0">
              <a:off x="0" y="0"/>
              <a:ext cx="9381109" cy="6722491"/>
            </a:xfrm>
            <a:custGeom>
              <a:avLst/>
              <a:gdLst/>
              <a:ahLst/>
              <a:cxnLst/>
              <a:rect r="r" b="b" t="t" l="l"/>
              <a:pathLst>
                <a:path h="6722491" w="9381109">
                  <a:moveTo>
                    <a:pt x="0" y="0"/>
                  </a:moveTo>
                  <a:lnTo>
                    <a:pt x="9381109" y="0"/>
                  </a:lnTo>
                  <a:lnTo>
                    <a:pt x="9381109" y="6722491"/>
                  </a:lnTo>
                  <a:lnTo>
                    <a:pt x="0" y="6722491"/>
                  </a:lnTo>
                  <a:lnTo>
                    <a:pt x="0" y="0"/>
                  </a:lnTo>
                  <a:close/>
                </a:path>
              </a:pathLst>
            </a:custGeom>
            <a:blipFill>
              <a:blip r:embed="rId2"/>
              <a:stretch>
                <a:fillRect l="0" t="0" r="0" b="0"/>
              </a:stretch>
            </a:blipFill>
          </p:spPr>
        </p:sp>
      </p:grpSp>
      <p:grpSp>
        <p:nvGrpSpPr>
          <p:cNvPr name="Group 5" id="5"/>
          <p:cNvGrpSpPr>
            <a:grpSpLocks noChangeAspect="true"/>
          </p:cNvGrpSpPr>
          <p:nvPr/>
        </p:nvGrpSpPr>
        <p:grpSpPr>
          <a:xfrm rot="0">
            <a:off x="9144000" y="5994400"/>
            <a:ext cx="215900" cy="571500"/>
            <a:chOff x="0" y="0"/>
            <a:chExt cx="287867" cy="762000"/>
          </a:xfrm>
        </p:grpSpPr>
        <p:sp>
          <p:nvSpPr>
            <p:cNvPr name="Freeform 6" id="6"/>
            <p:cNvSpPr/>
            <p:nvPr/>
          </p:nvSpPr>
          <p:spPr>
            <a:xfrm flipH="false" flipV="false" rot="0">
              <a:off x="0" y="0"/>
              <a:ext cx="287909" cy="762000"/>
            </a:xfrm>
            <a:custGeom>
              <a:avLst/>
              <a:gdLst/>
              <a:ahLst/>
              <a:cxnLst/>
              <a:rect r="r" b="b" t="t" l="l"/>
              <a:pathLst>
                <a:path h="762000" w="287909">
                  <a:moveTo>
                    <a:pt x="0" y="0"/>
                  </a:moveTo>
                  <a:lnTo>
                    <a:pt x="287909" y="0"/>
                  </a:lnTo>
                  <a:lnTo>
                    <a:pt x="287909" y="762000"/>
                  </a:lnTo>
                  <a:lnTo>
                    <a:pt x="0" y="762000"/>
                  </a:lnTo>
                  <a:lnTo>
                    <a:pt x="0" y="0"/>
                  </a:lnTo>
                  <a:close/>
                </a:path>
              </a:pathLst>
            </a:custGeom>
            <a:blipFill>
              <a:blip r:embed="rId3"/>
              <a:stretch>
                <a:fillRect l="0" t="0" r="14" b="0"/>
              </a:stretch>
            </a:blipFill>
          </p:spPr>
        </p:sp>
      </p:grpSp>
      <p:sp>
        <p:nvSpPr>
          <p:cNvPr name="TextBox 7" id="7"/>
          <p:cNvSpPr txBox="true"/>
          <p:nvPr/>
        </p:nvSpPr>
        <p:spPr>
          <a:xfrm rot="0">
            <a:off x="887768" y="438950"/>
            <a:ext cx="16512464" cy="1497330"/>
          </a:xfrm>
          <a:prstGeom prst="rect">
            <a:avLst/>
          </a:prstGeom>
        </p:spPr>
        <p:txBody>
          <a:bodyPr anchor="t" rtlCol="false" tIns="0" lIns="0" bIns="0" rIns="0">
            <a:spAutoFit/>
          </a:bodyPr>
          <a:lstStyle/>
          <a:p>
            <a:pPr algn="l">
              <a:lnSpc>
                <a:spcPts val="4800"/>
              </a:lnSpc>
            </a:pPr>
            <a:r>
              <a:rPr lang="en-US" sz="4000" spc="110">
                <a:solidFill>
                  <a:srgbClr val="000000"/>
                </a:solidFill>
                <a:latin typeface="Telegraf"/>
                <a:ea typeface="Telegraf"/>
                <a:cs typeface="Telegraf"/>
                <a:sym typeface="Telegraf"/>
              </a:rPr>
              <a:t>The Workflow, Part 2: Forging Intelligence in the Training Pipeline</a:t>
            </a:r>
          </a:p>
        </p:txBody>
      </p:sp>
      <p:sp>
        <p:nvSpPr>
          <p:cNvPr name="TextBox 8" id="8"/>
          <p:cNvSpPr txBox="true"/>
          <p:nvPr/>
        </p:nvSpPr>
        <p:spPr>
          <a:xfrm rot="0">
            <a:off x="959590" y="3885776"/>
            <a:ext cx="6096952" cy="632460"/>
          </a:xfrm>
          <a:prstGeom prst="rect">
            <a:avLst/>
          </a:prstGeom>
        </p:spPr>
        <p:txBody>
          <a:bodyPr anchor="t" rtlCol="false" tIns="0" lIns="0" bIns="0" rIns="0">
            <a:spAutoFit/>
          </a:bodyPr>
          <a:lstStyle/>
          <a:p>
            <a:pPr algn="l">
              <a:lnSpc>
                <a:spcPts val="3960"/>
              </a:lnSpc>
            </a:pPr>
            <a:r>
              <a:rPr lang="en-US" sz="3300" spc="-10">
                <a:solidFill>
                  <a:srgbClr val="000000"/>
                </a:solidFill>
                <a:latin typeface="Telegraf"/>
                <a:ea typeface="Telegraf"/>
                <a:cs typeface="Telegraf"/>
                <a:sym typeface="Telegraf"/>
              </a:rPr>
              <a:t>Key Training Components</a:t>
            </a:r>
          </a:p>
        </p:txBody>
      </p:sp>
      <p:sp>
        <p:nvSpPr>
          <p:cNvPr name="TextBox 9" id="9"/>
          <p:cNvSpPr txBox="true"/>
          <p:nvPr/>
        </p:nvSpPr>
        <p:spPr>
          <a:xfrm rot="0">
            <a:off x="1162360" y="4851470"/>
            <a:ext cx="7310834" cy="3007616"/>
          </a:xfrm>
          <a:prstGeom prst="rect">
            <a:avLst/>
          </a:prstGeom>
        </p:spPr>
        <p:txBody>
          <a:bodyPr anchor="t" rtlCol="false" tIns="0" lIns="0" bIns="0" rIns="0">
            <a:spAutoFit/>
          </a:bodyPr>
          <a:lstStyle/>
          <a:p>
            <a:pPr algn="l" marL="539754" indent="-269877" lvl="1">
              <a:lnSpc>
                <a:spcPts val="3000"/>
              </a:lnSpc>
              <a:buFont typeface="Arial"/>
              <a:buChar char="•"/>
            </a:pPr>
            <a:r>
              <a:rPr lang="en-US" b="true" sz="2500" spc="-22">
                <a:solidFill>
                  <a:srgbClr val="000000"/>
                </a:solidFill>
                <a:latin typeface="Cambria Bold"/>
                <a:ea typeface="Cambria Bold"/>
                <a:cs typeface="Cambria Bold"/>
                <a:sym typeface="Cambria Bold"/>
              </a:rPr>
              <a:t>Loss Function:</a:t>
            </a:r>
            <a:r>
              <a:rPr lang="en-US" sz="2500" spc="-22">
                <a:solidFill>
                  <a:srgbClr val="000000"/>
                </a:solidFill>
                <a:latin typeface="Cambria"/>
                <a:ea typeface="Cambria"/>
                <a:cs typeface="Cambria"/>
                <a:sym typeface="Cambria"/>
              </a:rPr>
              <a:t> Cross-Entropy</a:t>
            </a:r>
          </a:p>
          <a:p>
            <a:pPr algn="l" marL="539754" indent="-269877" lvl="1">
              <a:lnSpc>
                <a:spcPts val="3000"/>
              </a:lnSpc>
              <a:buFont typeface="Arial"/>
              <a:buChar char="•"/>
            </a:pPr>
            <a:r>
              <a:rPr lang="en-US" b="true" sz="2500" spc="-29">
                <a:solidFill>
                  <a:srgbClr val="000000"/>
                </a:solidFill>
                <a:latin typeface="Cambria Bold"/>
                <a:ea typeface="Cambria Bold"/>
                <a:cs typeface="Cambria Bold"/>
                <a:sym typeface="Cambria Bold"/>
              </a:rPr>
              <a:t>Optimizer: </a:t>
            </a:r>
            <a:r>
              <a:rPr lang="en-US" sz="2500" spc="-29">
                <a:solidFill>
                  <a:srgbClr val="000000"/>
                </a:solidFill>
                <a:latin typeface="Cambria"/>
                <a:ea typeface="Cambria"/>
                <a:cs typeface="Cambria"/>
                <a:sym typeface="Cambria"/>
              </a:rPr>
              <a:t>Adam</a:t>
            </a:r>
          </a:p>
          <a:p>
            <a:pPr algn="l" marL="539754" indent="-269877" lvl="1">
              <a:lnSpc>
                <a:spcPts val="3455"/>
              </a:lnSpc>
              <a:buFont typeface="Arial"/>
              <a:buChar char="•"/>
            </a:pPr>
            <a:r>
              <a:rPr lang="en-US" b="true" sz="2500" spc="-36">
                <a:solidFill>
                  <a:srgbClr val="000000"/>
                </a:solidFill>
                <a:latin typeface="Cambria Bold"/>
                <a:ea typeface="Cambria Bold"/>
                <a:cs typeface="Cambria Bold"/>
                <a:sym typeface="Cambria Bold"/>
              </a:rPr>
              <a:t>Regularization:</a:t>
            </a:r>
            <a:r>
              <a:rPr lang="en-US" sz="2500" spc="-36">
                <a:solidFill>
                  <a:srgbClr val="000000"/>
                </a:solidFill>
                <a:latin typeface="Cambria"/>
                <a:ea typeface="Cambria"/>
                <a:cs typeface="Cambria"/>
                <a:sym typeface="Cambria"/>
              </a:rPr>
              <a:t> Batch Normalization &amp; 	Dropout to reduce over-fitting.</a:t>
            </a:r>
          </a:p>
          <a:p>
            <a:pPr algn="l" marL="539754" indent="-269877" lvl="1">
              <a:lnSpc>
                <a:spcPts val="3455"/>
              </a:lnSpc>
              <a:buFont typeface="Arial"/>
              <a:buChar char="•"/>
            </a:pPr>
            <a:r>
              <a:rPr lang="en-US" b="true" sz="2500" spc="-88">
                <a:solidFill>
                  <a:srgbClr val="000000"/>
                </a:solidFill>
                <a:latin typeface="Cambria Bold"/>
                <a:ea typeface="Cambria Bold"/>
                <a:cs typeface="Cambria Bold"/>
                <a:sym typeface="Cambria Bold"/>
              </a:rPr>
              <a:t>Acceleration</a:t>
            </a:r>
            <a:r>
              <a:rPr lang="en-US" sz="2500" spc="-88">
                <a:solidFill>
                  <a:srgbClr val="000000"/>
                </a:solidFill>
                <a:latin typeface="Cambria"/>
                <a:ea typeface="Cambria"/>
                <a:cs typeface="Cambria"/>
                <a:sym typeface="Cambria"/>
              </a:rPr>
              <a:t>: CUDA GPU acceleration for improved performance and efficiency.</a:t>
            </a:r>
          </a:p>
        </p:txBody>
      </p:sp>
      <p:sp>
        <p:nvSpPr>
          <p:cNvPr name="TextBox 10" id="10"/>
          <p:cNvSpPr txBox="true"/>
          <p:nvPr/>
        </p:nvSpPr>
        <p:spPr>
          <a:xfrm rot="0">
            <a:off x="12473077" y="8743809"/>
            <a:ext cx="1243806" cy="461010"/>
          </a:xfrm>
          <a:prstGeom prst="rect">
            <a:avLst/>
          </a:prstGeom>
        </p:spPr>
        <p:txBody>
          <a:bodyPr anchor="t" rtlCol="false" tIns="0" lIns="0" bIns="0" rIns="0">
            <a:spAutoFit/>
          </a:bodyPr>
          <a:lstStyle/>
          <a:p>
            <a:pPr algn="l">
              <a:lnSpc>
                <a:spcPts val="2820"/>
              </a:lnSpc>
            </a:pPr>
            <a:r>
              <a:rPr lang="en-US" sz="2350" spc="-20">
                <a:solidFill>
                  <a:srgbClr val="000000"/>
                </a:solidFill>
                <a:latin typeface="Telegraf"/>
                <a:ea typeface="Telegraf"/>
                <a:cs typeface="Telegraf"/>
                <a:sym typeface="Telegraf"/>
              </a:rPr>
              <a:t>Epochs</a:t>
            </a:r>
          </a:p>
        </p:txBody>
      </p:sp>
      <p:sp>
        <p:nvSpPr>
          <p:cNvPr name="TextBox 11" id="11"/>
          <p:cNvSpPr txBox="true"/>
          <p:nvPr/>
        </p:nvSpPr>
        <p:spPr>
          <a:xfrm rot="0">
            <a:off x="14726831" y="3904826"/>
            <a:ext cx="1579245" cy="474345"/>
          </a:xfrm>
          <a:prstGeom prst="rect">
            <a:avLst/>
          </a:prstGeom>
        </p:spPr>
        <p:txBody>
          <a:bodyPr anchor="t" rtlCol="false" tIns="0" lIns="0" bIns="0" rIns="0">
            <a:spAutoFit/>
          </a:bodyPr>
          <a:lstStyle/>
          <a:p>
            <a:pPr algn="l">
              <a:lnSpc>
                <a:spcPts val="1560"/>
              </a:lnSpc>
            </a:pPr>
            <a:r>
              <a:rPr lang="en-US" sz="1300" spc="38">
                <a:solidFill>
                  <a:srgbClr val="000000"/>
                </a:solidFill>
                <a:latin typeface="Telegraf"/>
                <a:ea typeface="Telegraf"/>
                <a:cs typeface="Telegraf"/>
                <a:sym typeface="Telegraf"/>
              </a:rPr>
              <a:t>Training Loss</a:t>
            </a:r>
          </a:p>
          <a:p>
            <a:pPr algn="l">
              <a:lnSpc>
                <a:spcPts val="1440"/>
              </a:lnSpc>
            </a:pPr>
            <a:r>
              <a:rPr lang="en-US" sz="1200" spc="35">
                <a:solidFill>
                  <a:srgbClr val="000000"/>
                </a:solidFill>
                <a:latin typeface="Telegraf"/>
                <a:ea typeface="Telegraf"/>
                <a:cs typeface="Telegraf"/>
                <a:sym typeface="Telegraf"/>
              </a:rPr>
              <a:t>Validation Loss</a:t>
            </a:r>
          </a:p>
        </p:txBody>
      </p:sp>
      <p:sp>
        <p:nvSpPr>
          <p:cNvPr name="TextBox 12" id="12"/>
          <p:cNvSpPr txBox="true"/>
          <p:nvPr/>
        </p:nvSpPr>
        <p:spPr>
          <a:xfrm rot="0">
            <a:off x="11608921" y="3381981"/>
            <a:ext cx="2972117" cy="341078"/>
          </a:xfrm>
          <a:prstGeom prst="rect">
            <a:avLst/>
          </a:prstGeom>
        </p:spPr>
        <p:txBody>
          <a:bodyPr anchor="t" rtlCol="false" tIns="0" lIns="0" bIns="0" rIns="0">
            <a:spAutoFit/>
          </a:bodyPr>
          <a:lstStyle/>
          <a:p>
            <a:pPr algn="ctr">
              <a:lnSpc>
                <a:spcPts val="2193"/>
              </a:lnSpc>
              <a:spcBef>
                <a:spcPct val="0"/>
              </a:spcBef>
            </a:pPr>
            <a:r>
              <a:rPr lang="en-US" sz="1891" spc="-5">
                <a:solidFill>
                  <a:srgbClr val="000000"/>
                </a:solidFill>
                <a:latin typeface="Cambria"/>
                <a:ea typeface="Cambria"/>
                <a:cs typeface="Cambria"/>
                <a:sym typeface="Cambria"/>
              </a:rPr>
              <a:t>Model Loss Over Epochs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0F4F6"/>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863600" y="4114800"/>
            <a:ext cx="4914900" cy="4470400"/>
            <a:chOff x="0" y="0"/>
            <a:chExt cx="6553200" cy="5960533"/>
          </a:xfrm>
        </p:grpSpPr>
        <p:sp>
          <p:nvSpPr>
            <p:cNvPr name="Freeform 3" id="3"/>
            <p:cNvSpPr/>
            <p:nvPr/>
          </p:nvSpPr>
          <p:spPr>
            <a:xfrm flipH="false" flipV="false" rot="0">
              <a:off x="0" y="0"/>
              <a:ext cx="6553200" cy="5960491"/>
            </a:xfrm>
            <a:custGeom>
              <a:avLst/>
              <a:gdLst/>
              <a:ahLst/>
              <a:cxnLst/>
              <a:rect r="r" b="b" t="t" l="l"/>
              <a:pathLst>
                <a:path h="5960491" w="6553200">
                  <a:moveTo>
                    <a:pt x="0" y="0"/>
                  </a:moveTo>
                  <a:lnTo>
                    <a:pt x="6553200" y="0"/>
                  </a:lnTo>
                  <a:lnTo>
                    <a:pt x="6553200" y="5960491"/>
                  </a:lnTo>
                  <a:lnTo>
                    <a:pt x="0" y="5960491"/>
                  </a:lnTo>
                  <a:lnTo>
                    <a:pt x="0" y="0"/>
                  </a:lnTo>
                  <a:close/>
                </a:path>
              </a:pathLst>
            </a:custGeom>
            <a:blipFill>
              <a:blip r:embed="rId2"/>
              <a:stretch>
                <a:fillRect l="0" t="0" r="0" b="0"/>
              </a:stretch>
            </a:blipFill>
          </p:spPr>
        </p:sp>
      </p:grpSp>
      <p:grpSp>
        <p:nvGrpSpPr>
          <p:cNvPr name="Group 4" id="4"/>
          <p:cNvGrpSpPr>
            <a:grpSpLocks noChangeAspect="true"/>
          </p:cNvGrpSpPr>
          <p:nvPr/>
        </p:nvGrpSpPr>
        <p:grpSpPr>
          <a:xfrm rot="0">
            <a:off x="6311900" y="4114800"/>
            <a:ext cx="4914900" cy="4470400"/>
            <a:chOff x="0" y="0"/>
            <a:chExt cx="6553200" cy="5960533"/>
          </a:xfrm>
        </p:grpSpPr>
        <p:sp>
          <p:nvSpPr>
            <p:cNvPr name="Freeform 5" id="5"/>
            <p:cNvSpPr/>
            <p:nvPr/>
          </p:nvSpPr>
          <p:spPr>
            <a:xfrm flipH="false" flipV="false" rot="0">
              <a:off x="0" y="0"/>
              <a:ext cx="6553200" cy="5960491"/>
            </a:xfrm>
            <a:custGeom>
              <a:avLst/>
              <a:gdLst/>
              <a:ahLst/>
              <a:cxnLst/>
              <a:rect r="r" b="b" t="t" l="l"/>
              <a:pathLst>
                <a:path h="5960491" w="6553200">
                  <a:moveTo>
                    <a:pt x="0" y="0"/>
                  </a:moveTo>
                  <a:lnTo>
                    <a:pt x="6553200" y="0"/>
                  </a:lnTo>
                  <a:lnTo>
                    <a:pt x="6553200" y="5960491"/>
                  </a:lnTo>
                  <a:lnTo>
                    <a:pt x="0" y="5960491"/>
                  </a:lnTo>
                  <a:lnTo>
                    <a:pt x="0" y="0"/>
                  </a:lnTo>
                  <a:close/>
                </a:path>
              </a:pathLst>
            </a:custGeom>
            <a:blipFill>
              <a:blip r:embed="rId3"/>
              <a:stretch>
                <a:fillRect l="0" t="0" r="0" b="0"/>
              </a:stretch>
            </a:blipFill>
          </p:spPr>
        </p:sp>
      </p:grpSp>
      <p:grpSp>
        <p:nvGrpSpPr>
          <p:cNvPr name="Group 6" id="6"/>
          <p:cNvGrpSpPr>
            <a:grpSpLocks noChangeAspect="true"/>
          </p:cNvGrpSpPr>
          <p:nvPr/>
        </p:nvGrpSpPr>
        <p:grpSpPr>
          <a:xfrm rot="0">
            <a:off x="11575415" y="4114800"/>
            <a:ext cx="4927600" cy="4470400"/>
            <a:chOff x="0" y="0"/>
            <a:chExt cx="6570133" cy="5960533"/>
          </a:xfrm>
        </p:grpSpPr>
        <p:sp>
          <p:nvSpPr>
            <p:cNvPr name="Freeform 7" id="7"/>
            <p:cNvSpPr/>
            <p:nvPr/>
          </p:nvSpPr>
          <p:spPr>
            <a:xfrm flipH="false" flipV="false" rot="0">
              <a:off x="0" y="0"/>
              <a:ext cx="6570091" cy="5960491"/>
            </a:xfrm>
            <a:custGeom>
              <a:avLst/>
              <a:gdLst/>
              <a:ahLst/>
              <a:cxnLst/>
              <a:rect r="r" b="b" t="t" l="l"/>
              <a:pathLst>
                <a:path h="5960491" w="6570091">
                  <a:moveTo>
                    <a:pt x="0" y="0"/>
                  </a:moveTo>
                  <a:lnTo>
                    <a:pt x="6570091" y="0"/>
                  </a:lnTo>
                  <a:lnTo>
                    <a:pt x="6570091" y="5960491"/>
                  </a:lnTo>
                  <a:lnTo>
                    <a:pt x="0" y="5960491"/>
                  </a:lnTo>
                  <a:lnTo>
                    <a:pt x="0" y="0"/>
                  </a:lnTo>
                  <a:close/>
                </a:path>
              </a:pathLst>
            </a:custGeom>
            <a:blipFill>
              <a:blip r:embed="rId4"/>
              <a:stretch>
                <a:fillRect l="0" t="0" r="0" b="0"/>
              </a:stretch>
            </a:blipFill>
          </p:spPr>
        </p:sp>
      </p:grpSp>
      <p:sp>
        <p:nvSpPr>
          <p:cNvPr name="TextBox 8" id="8"/>
          <p:cNvSpPr txBox="true"/>
          <p:nvPr/>
        </p:nvSpPr>
        <p:spPr>
          <a:xfrm rot="0">
            <a:off x="962810" y="692220"/>
            <a:ext cx="15540205" cy="1611630"/>
          </a:xfrm>
          <a:prstGeom prst="rect">
            <a:avLst/>
          </a:prstGeom>
        </p:spPr>
        <p:txBody>
          <a:bodyPr anchor="t" rtlCol="false" tIns="0" lIns="0" bIns="0" rIns="0">
            <a:spAutoFit/>
          </a:bodyPr>
          <a:lstStyle/>
          <a:p>
            <a:pPr algn="l">
              <a:lnSpc>
                <a:spcPts val="5100"/>
              </a:lnSpc>
            </a:pPr>
            <a:r>
              <a:rPr lang="en-US" sz="4250" spc="-16">
                <a:solidFill>
                  <a:srgbClr val="1C1C1C"/>
                </a:solidFill>
                <a:latin typeface="Telegraf"/>
                <a:ea typeface="Telegraf"/>
                <a:cs typeface="Telegraf"/>
                <a:sym typeface="Telegraf"/>
              </a:rPr>
              <a:t>The Model </a:t>
            </a:r>
            <a:r>
              <a:rPr lang="en-US" sz="4250" spc="-16">
                <a:solidFill>
                  <a:srgbClr val="1F1F1F"/>
                </a:solidFill>
                <a:latin typeface="Telegraf"/>
                <a:ea typeface="Telegraf"/>
                <a:cs typeface="Telegraf"/>
                <a:sym typeface="Telegraf"/>
              </a:rPr>
              <a:t>Achieved </a:t>
            </a:r>
            <a:r>
              <a:rPr lang="en-US" sz="4250" spc="-16">
                <a:solidFill>
                  <a:srgbClr val="212121"/>
                </a:solidFill>
                <a:latin typeface="Telegraf"/>
                <a:ea typeface="Telegraf"/>
                <a:cs typeface="Telegraf"/>
                <a:sym typeface="Telegraf"/>
              </a:rPr>
              <a:t>a </a:t>
            </a:r>
            <a:r>
              <a:rPr lang="en-US" sz="4250" spc="-16">
                <a:solidFill>
                  <a:srgbClr val="1D1D1D"/>
                </a:solidFill>
                <a:latin typeface="Telegraf"/>
                <a:ea typeface="Telegraf"/>
                <a:cs typeface="Telegraf"/>
                <a:sym typeface="Telegraf"/>
              </a:rPr>
              <a:t>Diagnostic </a:t>
            </a:r>
            <a:r>
              <a:rPr lang="en-US" sz="4250" spc="-16">
                <a:solidFill>
                  <a:srgbClr val="1C1C1C"/>
                </a:solidFill>
                <a:latin typeface="Telegraf"/>
                <a:ea typeface="Telegraf"/>
                <a:cs typeface="Telegraf"/>
                <a:sym typeface="Telegraf"/>
              </a:rPr>
              <a:t>Accuracy </a:t>
            </a:r>
            <a:r>
              <a:rPr lang="en-US" sz="4250" spc="-16">
                <a:solidFill>
                  <a:srgbClr val="1F1F1F"/>
                </a:solidFill>
                <a:latin typeface="Telegraf"/>
                <a:ea typeface="Telegraf"/>
                <a:cs typeface="Telegraf"/>
                <a:sym typeface="Telegraf"/>
              </a:rPr>
              <a:t>of </a:t>
            </a:r>
            <a:r>
              <a:rPr lang="en-US" sz="4250" spc="-16">
                <a:solidFill>
                  <a:srgbClr val="1C1C1C"/>
                </a:solidFill>
                <a:latin typeface="Telegraf"/>
                <a:ea typeface="Telegraf"/>
                <a:cs typeface="Telegraf"/>
                <a:sym typeface="Telegraf"/>
              </a:rPr>
              <a:t>Over </a:t>
            </a:r>
            <a:r>
              <a:rPr lang="en-US" sz="4250" spc="-16">
                <a:solidFill>
                  <a:srgbClr val="212121"/>
                </a:solidFill>
                <a:latin typeface="Telegraf"/>
                <a:ea typeface="Telegraf"/>
                <a:cs typeface="Telegraf"/>
                <a:sym typeface="Telegraf"/>
              </a:rPr>
              <a:t>97%</a:t>
            </a:r>
          </a:p>
        </p:txBody>
      </p:sp>
      <p:sp>
        <p:nvSpPr>
          <p:cNvPr name="TextBox 9" id="9"/>
          <p:cNvSpPr txBox="true"/>
          <p:nvPr/>
        </p:nvSpPr>
        <p:spPr>
          <a:xfrm rot="0">
            <a:off x="975360" y="2438681"/>
            <a:ext cx="14160500" cy="1038861"/>
          </a:xfrm>
          <a:prstGeom prst="rect">
            <a:avLst/>
          </a:prstGeom>
        </p:spPr>
        <p:txBody>
          <a:bodyPr anchor="t" rtlCol="false" tIns="0" lIns="0" bIns="0" rIns="0">
            <a:spAutoFit/>
          </a:bodyPr>
          <a:lstStyle/>
          <a:p>
            <a:pPr algn="l">
              <a:lnSpc>
                <a:spcPts val="4050"/>
              </a:lnSpc>
            </a:pPr>
            <a:r>
              <a:rPr lang="en-US" sz="3400" spc="-95">
                <a:solidFill>
                  <a:srgbClr val="000000"/>
                </a:solidFill>
                <a:latin typeface="Cambria"/>
                <a:ea typeface="Cambria"/>
                <a:cs typeface="Cambria"/>
                <a:sym typeface="Cambria"/>
              </a:rPr>
              <a:t>Performance was measured against the 20% validation set, demonstrating strong generalization to unseen data.</a:t>
            </a:r>
          </a:p>
        </p:txBody>
      </p:sp>
      <p:sp>
        <p:nvSpPr>
          <p:cNvPr name="TextBox 10" id="10"/>
          <p:cNvSpPr txBox="true"/>
          <p:nvPr/>
        </p:nvSpPr>
        <p:spPr>
          <a:xfrm rot="0">
            <a:off x="1409382" y="4899095"/>
            <a:ext cx="3861435" cy="2514600"/>
          </a:xfrm>
          <a:prstGeom prst="rect">
            <a:avLst/>
          </a:prstGeom>
        </p:spPr>
        <p:txBody>
          <a:bodyPr anchor="t" rtlCol="false" tIns="0" lIns="0" bIns="0" rIns="0">
            <a:spAutoFit/>
          </a:bodyPr>
          <a:lstStyle/>
          <a:p>
            <a:pPr algn="ctr">
              <a:lnSpc>
                <a:spcPts val="9839"/>
              </a:lnSpc>
            </a:pPr>
            <a:r>
              <a:rPr lang="en-US" sz="8199" spc="90">
                <a:solidFill>
                  <a:srgbClr val="013862"/>
                </a:solidFill>
                <a:latin typeface="Calibri (MS)"/>
                <a:ea typeface="Calibri (MS)"/>
                <a:cs typeface="Calibri (MS)"/>
                <a:sym typeface="Calibri (MS)"/>
              </a:rPr>
              <a:t>98%</a:t>
            </a:r>
          </a:p>
          <a:p>
            <a:pPr algn="l">
              <a:lnSpc>
                <a:spcPts val="2820"/>
              </a:lnSpc>
            </a:pPr>
          </a:p>
          <a:p>
            <a:pPr algn="l">
              <a:lnSpc>
                <a:spcPts val="2820"/>
              </a:lnSpc>
            </a:pPr>
            <a:r>
              <a:rPr lang="en-US" sz="2350" spc="-23">
                <a:solidFill>
                  <a:srgbClr val="013862"/>
                </a:solidFill>
                <a:latin typeface="Cambria"/>
                <a:ea typeface="Cambria"/>
                <a:cs typeface="Cambria"/>
                <a:sym typeface="Cambria"/>
              </a:rPr>
              <a:t>  </a:t>
            </a:r>
            <a:r>
              <a:rPr lang="en-US" sz="2350" spc="-23">
                <a:solidFill>
                  <a:srgbClr val="013862"/>
                </a:solidFill>
                <a:latin typeface="Cambria"/>
                <a:ea typeface="Cambria"/>
                <a:cs typeface="Cambria"/>
                <a:sym typeface="Cambria"/>
              </a:rPr>
              <a:t>Final Training Accuracy</a:t>
            </a:r>
          </a:p>
        </p:txBody>
      </p:sp>
      <p:sp>
        <p:nvSpPr>
          <p:cNvPr name="TextBox 11" id="11"/>
          <p:cNvSpPr txBox="true"/>
          <p:nvPr/>
        </p:nvSpPr>
        <p:spPr>
          <a:xfrm rot="0">
            <a:off x="6756400" y="4975295"/>
            <a:ext cx="4064000" cy="2440305"/>
          </a:xfrm>
          <a:prstGeom prst="rect">
            <a:avLst/>
          </a:prstGeom>
        </p:spPr>
        <p:txBody>
          <a:bodyPr anchor="t" rtlCol="false" tIns="0" lIns="0" bIns="0" rIns="0">
            <a:spAutoFit/>
          </a:bodyPr>
          <a:lstStyle/>
          <a:p>
            <a:pPr algn="ctr">
              <a:lnSpc>
                <a:spcPts val="8280"/>
              </a:lnSpc>
            </a:pPr>
            <a:r>
              <a:rPr lang="en-US" sz="6900" spc="841">
                <a:solidFill>
                  <a:srgbClr val="033A66"/>
                </a:solidFill>
                <a:latin typeface="Calibri (MS)"/>
                <a:ea typeface="Calibri (MS)"/>
                <a:cs typeface="Calibri (MS)"/>
                <a:sym typeface="Calibri (MS)"/>
              </a:rPr>
              <a:t>9</a:t>
            </a:r>
            <a:r>
              <a:rPr lang="en-US" sz="6900" spc="841">
                <a:solidFill>
                  <a:srgbClr val="033A66"/>
                </a:solidFill>
                <a:latin typeface="Calibri (MS)"/>
                <a:ea typeface="Calibri (MS)"/>
                <a:cs typeface="Calibri (MS)"/>
                <a:sym typeface="Calibri (MS)"/>
              </a:rPr>
              <a:t>7-98%</a:t>
            </a:r>
          </a:p>
          <a:p>
            <a:pPr algn="ctr">
              <a:lnSpc>
                <a:spcPts val="2160"/>
              </a:lnSpc>
            </a:pPr>
          </a:p>
          <a:p>
            <a:pPr algn="ctr">
              <a:lnSpc>
                <a:spcPts val="2160"/>
              </a:lnSpc>
            </a:pPr>
          </a:p>
          <a:p>
            <a:pPr algn="ctr">
              <a:lnSpc>
                <a:spcPts val="2640"/>
              </a:lnSpc>
            </a:pPr>
            <a:r>
              <a:rPr lang="en-US" sz="2200" spc="-63">
                <a:solidFill>
                  <a:srgbClr val="033A66"/>
                </a:solidFill>
                <a:latin typeface="Cambria"/>
                <a:ea typeface="Cambria"/>
                <a:cs typeface="Cambria"/>
                <a:sym typeface="Cambria"/>
              </a:rPr>
              <a:t>Final Validation Accuracy</a:t>
            </a:r>
          </a:p>
        </p:txBody>
      </p:sp>
      <p:sp>
        <p:nvSpPr>
          <p:cNvPr name="TextBox 12" id="12"/>
          <p:cNvSpPr txBox="true"/>
          <p:nvPr/>
        </p:nvSpPr>
        <p:spPr>
          <a:xfrm rot="0">
            <a:off x="12009883" y="5079423"/>
            <a:ext cx="4058664" cy="3021747"/>
          </a:xfrm>
          <a:prstGeom prst="rect">
            <a:avLst/>
          </a:prstGeom>
        </p:spPr>
        <p:txBody>
          <a:bodyPr anchor="t" rtlCol="false" tIns="0" lIns="0" bIns="0" rIns="0">
            <a:spAutoFit/>
          </a:bodyPr>
          <a:lstStyle/>
          <a:p>
            <a:pPr algn="ctr">
              <a:lnSpc>
                <a:spcPts val="5594"/>
              </a:lnSpc>
            </a:pPr>
            <a:r>
              <a:rPr lang="en-US" sz="4822" spc="73">
                <a:solidFill>
                  <a:srgbClr val="03345D"/>
                </a:solidFill>
                <a:latin typeface="Calibri (MS)"/>
                <a:ea typeface="Calibri (MS)"/>
                <a:cs typeface="Calibri (MS)"/>
                <a:sym typeface="Calibri (MS)"/>
              </a:rPr>
              <a:t>4 </a:t>
            </a:r>
            <a:r>
              <a:rPr lang="en-US" sz="4822" spc="73">
                <a:solidFill>
                  <a:srgbClr val="033459"/>
                </a:solidFill>
                <a:latin typeface="Calibri (MS)"/>
                <a:ea typeface="Calibri (MS)"/>
                <a:cs typeface="Calibri (MS)"/>
                <a:sym typeface="Calibri (MS)"/>
              </a:rPr>
              <a:t>Classes</a:t>
            </a:r>
          </a:p>
          <a:p>
            <a:pPr algn="ctr">
              <a:lnSpc>
                <a:spcPts val="2193"/>
              </a:lnSpc>
            </a:pPr>
          </a:p>
          <a:p>
            <a:pPr algn="ctr">
              <a:lnSpc>
                <a:spcPts val="2193"/>
              </a:lnSpc>
            </a:pPr>
          </a:p>
          <a:p>
            <a:pPr algn="ctr">
              <a:lnSpc>
                <a:spcPts val="2193"/>
              </a:lnSpc>
            </a:pPr>
          </a:p>
          <a:p>
            <a:pPr algn="ctr">
              <a:lnSpc>
                <a:spcPts val="2425"/>
              </a:lnSpc>
            </a:pPr>
            <a:r>
              <a:rPr lang="en-US" sz="2091" spc="-6">
                <a:solidFill>
                  <a:srgbClr val="033459"/>
                </a:solidFill>
                <a:latin typeface="Cambria"/>
                <a:ea typeface="Cambria"/>
                <a:cs typeface="Cambria"/>
                <a:sym typeface="Cambria"/>
              </a:rPr>
              <a:t>Successfully identified </a:t>
            </a:r>
          </a:p>
          <a:p>
            <a:pPr algn="ctr">
              <a:lnSpc>
                <a:spcPts val="2425"/>
              </a:lnSpc>
            </a:pPr>
            <a:r>
              <a:rPr lang="en-US" sz="2091" spc="-6">
                <a:solidFill>
                  <a:srgbClr val="033459"/>
                </a:solidFill>
                <a:latin typeface="Cambria"/>
                <a:ea typeface="Cambria"/>
                <a:cs typeface="Cambria"/>
                <a:sym typeface="Cambria"/>
              </a:rPr>
              <a:t>Non-Demented,	Very Mild, Mild, and Moderate stages.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0F4F6"/>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2286000" y="2496067"/>
            <a:ext cx="6032500" cy="5232400"/>
            <a:chOff x="0" y="0"/>
            <a:chExt cx="8043333" cy="6976533"/>
          </a:xfrm>
        </p:grpSpPr>
        <p:sp>
          <p:nvSpPr>
            <p:cNvPr name="Freeform 3" id="3"/>
            <p:cNvSpPr/>
            <p:nvPr/>
          </p:nvSpPr>
          <p:spPr>
            <a:xfrm flipH="false" flipV="false" rot="0">
              <a:off x="0" y="0"/>
              <a:ext cx="8043291" cy="6976491"/>
            </a:xfrm>
            <a:custGeom>
              <a:avLst/>
              <a:gdLst/>
              <a:ahLst/>
              <a:cxnLst/>
              <a:rect r="r" b="b" t="t" l="l"/>
              <a:pathLst>
                <a:path h="6976491" w="8043291">
                  <a:moveTo>
                    <a:pt x="0" y="0"/>
                  </a:moveTo>
                  <a:lnTo>
                    <a:pt x="8043291" y="0"/>
                  </a:lnTo>
                  <a:lnTo>
                    <a:pt x="8043291" y="6976491"/>
                  </a:lnTo>
                  <a:lnTo>
                    <a:pt x="0" y="6976491"/>
                  </a:lnTo>
                  <a:lnTo>
                    <a:pt x="0" y="0"/>
                  </a:lnTo>
                  <a:close/>
                </a:path>
              </a:pathLst>
            </a:custGeom>
            <a:blipFill>
              <a:blip r:embed="rId2"/>
              <a:stretch>
                <a:fillRect l="0" t="0" r="0" b="0"/>
              </a:stretch>
            </a:blipFill>
          </p:spPr>
        </p:sp>
      </p:grpSp>
      <p:sp>
        <p:nvSpPr>
          <p:cNvPr name="TextBox 4" id="4"/>
          <p:cNvSpPr txBox="true"/>
          <p:nvPr/>
        </p:nvSpPr>
        <p:spPr>
          <a:xfrm rot="-5400000">
            <a:off x="-160025" y="4932004"/>
            <a:ext cx="1538605" cy="377190"/>
          </a:xfrm>
          <a:prstGeom prst="rect">
            <a:avLst/>
          </a:prstGeom>
        </p:spPr>
        <p:txBody>
          <a:bodyPr anchor="t" rtlCol="false" tIns="0" lIns="0" bIns="0" rIns="0">
            <a:spAutoFit/>
          </a:bodyPr>
          <a:lstStyle/>
          <a:p>
            <a:pPr algn="l">
              <a:lnSpc>
                <a:spcPts val="2829"/>
              </a:lnSpc>
            </a:pPr>
            <a:r>
              <a:rPr lang="en-US" sz="2499" spc="-64">
                <a:solidFill>
                  <a:srgbClr val="000000"/>
                </a:solidFill>
                <a:latin typeface="Times New Roman"/>
                <a:ea typeface="Times New Roman"/>
                <a:cs typeface="Times New Roman"/>
                <a:sym typeface="Times New Roman"/>
              </a:rPr>
              <a:t>Actual Class</a:t>
            </a:r>
          </a:p>
        </p:txBody>
      </p:sp>
      <p:sp>
        <p:nvSpPr>
          <p:cNvPr name="TextBox 5" id="5"/>
          <p:cNvSpPr txBox="true"/>
          <p:nvPr/>
        </p:nvSpPr>
        <p:spPr>
          <a:xfrm rot="0">
            <a:off x="752152" y="418887"/>
            <a:ext cx="16916723" cy="1363980"/>
          </a:xfrm>
          <a:prstGeom prst="rect">
            <a:avLst/>
          </a:prstGeom>
        </p:spPr>
        <p:txBody>
          <a:bodyPr anchor="t" rtlCol="false" tIns="0" lIns="0" bIns="0" rIns="0">
            <a:spAutoFit/>
          </a:bodyPr>
          <a:lstStyle/>
          <a:p>
            <a:pPr algn="l">
              <a:lnSpc>
                <a:spcPts val="4380"/>
              </a:lnSpc>
            </a:pPr>
            <a:r>
              <a:rPr lang="en-US" sz="3650" spc="105">
                <a:solidFill>
                  <a:srgbClr val="1F1F1F"/>
                </a:solidFill>
                <a:latin typeface="Telegraf"/>
                <a:ea typeface="Telegraf"/>
                <a:cs typeface="Telegraf"/>
                <a:sym typeface="Telegraf"/>
              </a:rPr>
              <a:t>Understanding the </a:t>
            </a:r>
            <a:r>
              <a:rPr lang="en-US" sz="3650" spc="105">
                <a:solidFill>
                  <a:srgbClr val="1C1C1C"/>
                </a:solidFill>
                <a:latin typeface="Telegraf"/>
                <a:ea typeface="Telegraf"/>
                <a:cs typeface="Telegraf"/>
                <a:sym typeface="Telegraf"/>
              </a:rPr>
              <a:t>Model's </a:t>
            </a:r>
            <a:r>
              <a:rPr lang="en-US" sz="3650" spc="105">
                <a:solidFill>
                  <a:srgbClr val="1F1F1F"/>
                </a:solidFill>
                <a:latin typeface="Telegraf"/>
                <a:ea typeface="Telegraf"/>
                <a:cs typeface="Telegraf"/>
                <a:sym typeface="Telegraf"/>
              </a:rPr>
              <a:t>Decisions Beyond </a:t>
            </a:r>
            <a:r>
              <a:rPr lang="en-US" sz="3650" spc="105">
                <a:solidFill>
                  <a:srgbClr val="212121"/>
                </a:solidFill>
                <a:latin typeface="Telegraf"/>
                <a:ea typeface="Telegraf"/>
                <a:cs typeface="Telegraf"/>
                <a:sym typeface="Telegraf"/>
              </a:rPr>
              <a:t>Overall </a:t>
            </a:r>
            <a:r>
              <a:rPr lang="en-US" sz="3650" spc="105">
                <a:solidFill>
                  <a:srgbClr val="1F1F1F"/>
                </a:solidFill>
                <a:latin typeface="Telegraf"/>
                <a:ea typeface="Telegraf"/>
                <a:cs typeface="Telegraf"/>
                <a:sym typeface="Telegraf"/>
              </a:rPr>
              <a:t>Accuracy</a:t>
            </a:r>
          </a:p>
        </p:txBody>
      </p:sp>
      <p:sp>
        <p:nvSpPr>
          <p:cNvPr name="TextBox 6" id="6"/>
          <p:cNvSpPr txBox="true"/>
          <p:nvPr/>
        </p:nvSpPr>
        <p:spPr>
          <a:xfrm rot="0">
            <a:off x="1634374" y="2939085"/>
            <a:ext cx="574516" cy="421005"/>
          </a:xfrm>
          <a:prstGeom prst="rect">
            <a:avLst/>
          </a:prstGeom>
        </p:spPr>
        <p:txBody>
          <a:bodyPr anchor="t" rtlCol="false" tIns="0" lIns="0" bIns="0" rIns="0">
            <a:spAutoFit/>
          </a:bodyPr>
          <a:lstStyle/>
          <a:p>
            <a:pPr algn="l">
              <a:lnSpc>
                <a:spcPts val="2760"/>
              </a:lnSpc>
            </a:pPr>
            <a:r>
              <a:rPr lang="en-US" sz="2300" spc="-100">
                <a:solidFill>
                  <a:srgbClr val="000000"/>
                </a:solidFill>
                <a:latin typeface="Cambria"/>
                <a:ea typeface="Cambria"/>
                <a:cs typeface="Cambria"/>
                <a:sym typeface="Cambria"/>
              </a:rPr>
              <a:t>Non</a:t>
            </a:r>
          </a:p>
        </p:txBody>
      </p:sp>
      <p:sp>
        <p:nvSpPr>
          <p:cNvPr name="TextBox 7" id="7"/>
          <p:cNvSpPr txBox="true"/>
          <p:nvPr/>
        </p:nvSpPr>
        <p:spPr>
          <a:xfrm rot="0">
            <a:off x="1063671" y="4245280"/>
            <a:ext cx="1132205" cy="372745"/>
          </a:xfrm>
          <a:prstGeom prst="rect">
            <a:avLst/>
          </a:prstGeom>
        </p:spPr>
        <p:txBody>
          <a:bodyPr anchor="t" rtlCol="false" tIns="0" lIns="0" bIns="0" rIns="0">
            <a:spAutoFit/>
          </a:bodyPr>
          <a:lstStyle/>
          <a:p>
            <a:pPr algn="l">
              <a:lnSpc>
                <a:spcPts val="2760"/>
              </a:lnSpc>
            </a:pPr>
            <a:r>
              <a:rPr lang="en-US" sz="2300" spc="-35">
                <a:solidFill>
                  <a:srgbClr val="000000"/>
                </a:solidFill>
                <a:latin typeface="Cambria"/>
                <a:ea typeface="Cambria"/>
                <a:cs typeface="Cambria"/>
                <a:sym typeface="Cambria"/>
              </a:rPr>
              <a:t>Very Mild</a:t>
            </a:r>
          </a:p>
        </p:txBody>
      </p:sp>
      <p:sp>
        <p:nvSpPr>
          <p:cNvPr name="TextBox 8" id="8"/>
          <p:cNvSpPr txBox="true"/>
          <p:nvPr/>
        </p:nvSpPr>
        <p:spPr>
          <a:xfrm rot="0">
            <a:off x="1634374" y="5547030"/>
            <a:ext cx="561340" cy="372745"/>
          </a:xfrm>
          <a:prstGeom prst="rect">
            <a:avLst/>
          </a:prstGeom>
        </p:spPr>
        <p:txBody>
          <a:bodyPr anchor="t" rtlCol="false" tIns="0" lIns="0" bIns="0" rIns="0">
            <a:spAutoFit/>
          </a:bodyPr>
          <a:lstStyle/>
          <a:p>
            <a:pPr algn="l">
              <a:lnSpc>
                <a:spcPts val="2760"/>
              </a:lnSpc>
            </a:pPr>
            <a:r>
              <a:rPr lang="en-US" sz="2300" spc="-45">
                <a:solidFill>
                  <a:srgbClr val="000000"/>
                </a:solidFill>
                <a:latin typeface="Cambria"/>
                <a:ea typeface="Cambria"/>
                <a:cs typeface="Cambria"/>
                <a:sym typeface="Cambria"/>
              </a:rPr>
              <a:t>Mild</a:t>
            </a:r>
          </a:p>
        </p:txBody>
      </p:sp>
      <p:sp>
        <p:nvSpPr>
          <p:cNvPr name="TextBox 9" id="9"/>
          <p:cNvSpPr txBox="true"/>
          <p:nvPr/>
        </p:nvSpPr>
        <p:spPr>
          <a:xfrm rot="0">
            <a:off x="1064385" y="6880318"/>
            <a:ext cx="1123950" cy="335915"/>
          </a:xfrm>
          <a:prstGeom prst="rect">
            <a:avLst/>
          </a:prstGeom>
        </p:spPr>
        <p:txBody>
          <a:bodyPr anchor="t" rtlCol="false" tIns="0" lIns="0" bIns="0" rIns="0">
            <a:spAutoFit/>
          </a:bodyPr>
          <a:lstStyle/>
          <a:p>
            <a:pPr algn="l">
              <a:lnSpc>
                <a:spcPts val="2460"/>
              </a:lnSpc>
            </a:pPr>
            <a:r>
              <a:rPr lang="en-US" sz="2050" spc="-10">
                <a:solidFill>
                  <a:srgbClr val="000000"/>
                </a:solidFill>
                <a:latin typeface="Cambria"/>
                <a:ea typeface="Cambria"/>
                <a:cs typeface="Cambria"/>
                <a:sym typeface="Cambria"/>
              </a:rPr>
              <a:t>Moderate</a:t>
            </a:r>
          </a:p>
        </p:txBody>
      </p:sp>
      <p:sp>
        <p:nvSpPr>
          <p:cNvPr name="TextBox 10" id="10"/>
          <p:cNvSpPr txBox="true"/>
          <p:nvPr/>
        </p:nvSpPr>
        <p:spPr>
          <a:xfrm rot="0">
            <a:off x="2778885" y="7743918"/>
            <a:ext cx="512445" cy="335915"/>
          </a:xfrm>
          <a:prstGeom prst="rect">
            <a:avLst/>
          </a:prstGeom>
        </p:spPr>
        <p:txBody>
          <a:bodyPr anchor="t" rtlCol="false" tIns="0" lIns="0" bIns="0" rIns="0">
            <a:spAutoFit/>
          </a:bodyPr>
          <a:lstStyle/>
          <a:p>
            <a:pPr algn="l">
              <a:lnSpc>
                <a:spcPts val="2460"/>
              </a:lnSpc>
            </a:pPr>
            <a:r>
              <a:rPr lang="en-US" sz="2050" spc="30">
                <a:solidFill>
                  <a:srgbClr val="000000"/>
                </a:solidFill>
                <a:latin typeface="Cambria"/>
                <a:ea typeface="Cambria"/>
                <a:cs typeface="Cambria"/>
                <a:sym typeface="Cambria"/>
              </a:rPr>
              <a:t>Non</a:t>
            </a:r>
          </a:p>
        </p:txBody>
      </p:sp>
      <p:sp>
        <p:nvSpPr>
          <p:cNvPr name="TextBox 11" id="11"/>
          <p:cNvSpPr txBox="true"/>
          <p:nvPr/>
        </p:nvSpPr>
        <p:spPr>
          <a:xfrm rot="0">
            <a:off x="3972255" y="7744342"/>
            <a:ext cx="2352040" cy="375285"/>
          </a:xfrm>
          <a:prstGeom prst="rect">
            <a:avLst/>
          </a:prstGeom>
        </p:spPr>
        <p:txBody>
          <a:bodyPr anchor="t" rtlCol="false" tIns="0" lIns="0" bIns="0" rIns="0">
            <a:spAutoFit/>
          </a:bodyPr>
          <a:lstStyle/>
          <a:p>
            <a:pPr algn="r">
              <a:lnSpc>
                <a:spcPts val="2459"/>
              </a:lnSpc>
            </a:pPr>
            <a:r>
              <a:rPr lang="en-US" sz="2049">
                <a:solidFill>
                  <a:srgbClr val="000000"/>
                </a:solidFill>
                <a:latin typeface="Cambria"/>
                <a:ea typeface="Cambria"/>
                <a:cs typeface="Cambria"/>
                <a:sym typeface="Cambria"/>
              </a:rPr>
              <a:t>Very Mild	Mild</a:t>
            </a:r>
          </a:p>
        </p:txBody>
      </p:sp>
      <p:sp>
        <p:nvSpPr>
          <p:cNvPr name="TextBox 12" id="12"/>
          <p:cNvSpPr txBox="true"/>
          <p:nvPr/>
        </p:nvSpPr>
        <p:spPr>
          <a:xfrm rot="0">
            <a:off x="6995285" y="7743918"/>
            <a:ext cx="1113155" cy="335915"/>
          </a:xfrm>
          <a:prstGeom prst="rect">
            <a:avLst/>
          </a:prstGeom>
        </p:spPr>
        <p:txBody>
          <a:bodyPr anchor="t" rtlCol="false" tIns="0" lIns="0" bIns="0" rIns="0">
            <a:spAutoFit/>
          </a:bodyPr>
          <a:lstStyle/>
          <a:p>
            <a:pPr algn="l">
              <a:lnSpc>
                <a:spcPts val="2460"/>
              </a:lnSpc>
            </a:pPr>
            <a:r>
              <a:rPr lang="en-US" sz="2050" spc="-10">
                <a:solidFill>
                  <a:srgbClr val="000000"/>
                </a:solidFill>
                <a:latin typeface="Cambria"/>
                <a:ea typeface="Cambria"/>
                <a:cs typeface="Cambria"/>
                <a:sym typeface="Cambria"/>
              </a:rPr>
              <a:t>Moderate</a:t>
            </a:r>
          </a:p>
        </p:txBody>
      </p:sp>
      <p:grpSp>
        <p:nvGrpSpPr>
          <p:cNvPr name="Group 13" id="13"/>
          <p:cNvGrpSpPr/>
          <p:nvPr/>
        </p:nvGrpSpPr>
        <p:grpSpPr>
          <a:xfrm rot="0">
            <a:off x="9176917" y="4362755"/>
            <a:ext cx="7670800" cy="1527146"/>
            <a:chOff x="0" y="0"/>
            <a:chExt cx="10227733" cy="2036195"/>
          </a:xfrm>
        </p:grpSpPr>
        <p:sp>
          <p:nvSpPr>
            <p:cNvPr name="Freeform 14" id="14"/>
            <p:cNvSpPr/>
            <p:nvPr/>
          </p:nvSpPr>
          <p:spPr>
            <a:xfrm flipH="false" flipV="false" rot="0">
              <a:off x="0" y="0"/>
              <a:ext cx="10227818" cy="2036279"/>
            </a:xfrm>
            <a:custGeom>
              <a:avLst/>
              <a:gdLst/>
              <a:ahLst/>
              <a:cxnLst/>
              <a:rect r="r" b="b" t="t" l="l"/>
              <a:pathLst>
                <a:path h="2036279" w="10227818">
                  <a:moveTo>
                    <a:pt x="8509" y="0"/>
                  </a:moveTo>
                  <a:lnTo>
                    <a:pt x="10219309" y="0"/>
                  </a:lnTo>
                  <a:cubicBezTo>
                    <a:pt x="10224008" y="0"/>
                    <a:pt x="10227818" y="4874"/>
                    <a:pt x="10227818" y="10885"/>
                  </a:cubicBezTo>
                  <a:lnTo>
                    <a:pt x="10227818" y="2025418"/>
                  </a:lnTo>
                  <a:cubicBezTo>
                    <a:pt x="10227818" y="2031429"/>
                    <a:pt x="10224008" y="2036279"/>
                    <a:pt x="10219309" y="2036279"/>
                  </a:cubicBezTo>
                  <a:lnTo>
                    <a:pt x="8509" y="2036279"/>
                  </a:lnTo>
                  <a:cubicBezTo>
                    <a:pt x="3810" y="2036279"/>
                    <a:pt x="0" y="2031429"/>
                    <a:pt x="0" y="2025418"/>
                  </a:cubicBezTo>
                  <a:lnTo>
                    <a:pt x="0" y="10885"/>
                  </a:lnTo>
                  <a:cubicBezTo>
                    <a:pt x="0" y="4874"/>
                    <a:pt x="3810" y="0"/>
                    <a:pt x="8509" y="0"/>
                  </a:cubicBezTo>
                  <a:moveTo>
                    <a:pt x="8509" y="21607"/>
                  </a:moveTo>
                  <a:lnTo>
                    <a:pt x="8509" y="10885"/>
                  </a:lnTo>
                  <a:lnTo>
                    <a:pt x="17018" y="10885"/>
                  </a:lnTo>
                  <a:lnTo>
                    <a:pt x="17018" y="2025418"/>
                  </a:lnTo>
                  <a:lnTo>
                    <a:pt x="8509" y="2025418"/>
                  </a:lnTo>
                  <a:lnTo>
                    <a:pt x="8509" y="2014533"/>
                  </a:lnTo>
                  <a:lnTo>
                    <a:pt x="10219309" y="2014533"/>
                  </a:lnTo>
                  <a:lnTo>
                    <a:pt x="10219309" y="2025418"/>
                  </a:lnTo>
                  <a:lnTo>
                    <a:pt x="10210800" y="2025418"/>
                  </a:lnTo>
                  <a:lnTo>
                    <a:pt x="10210800" y="10885"/>
                  </a:lnTo>
                  <a:lnTo>
                    <a:pt x="10219309" y="10885"/>
                  </a:lnTo>
                  <a:lnTo>
                    <a:pt x="10219309" y="21770"/>
                  </a:lnTo>
                  <a:lnTo>
                    <a:pt x="8509" y="21770"/>
                  </a:lnTo>
                  <a:close/>
                </a:path>
              </a:pathLst>
            </a:custGeom>
            <a:solidFill>
              <a:srgbClr val="9C803B"/>
            </a:solidFill>
            <a:ln w="12700">
              <a:solidFill>
                <a:srgbClr val="000000"/>
              </a:solidFill>
            </a:ln>
          </p:spPr>
        </p:sp>
        <p:sp>
          <p:nvSpPr>
            <p:cNvPr name="TextBox 15" id="15"/>
            <p:cNvSpPr txBox="true"/>
            <p:nvPr/>
          </p:nvSpPr>
          <p:spPr>
            <a:xfrm>
              <a:off x="0" y="19050"/>
              <a:ext cx="10227733" cy="2017145"/>
            </a:xfrm>
            <a:prstGeom prst="rect">
              <a:avLst/>
            </a:prstGeom>
          </p:spPr>
          <p:txBody>
            <a:bodyPr anchor="t" rtlCol="false" tIns="50800" lIns="50800" bIns="50800" rIns="50800"/>
            <a:lstStyle/>
            <a:p>
              <a:pPr algn="l">
                <a:lnSpc>
                  <a:spcPts val="2600"/>
                </a:lnSpc>
              </a:pPr>
              <a:r>
                <a:rPr lang="en-US" sz="2550" spc="-10">
                  <a:solidFill>
                    <a:srgbClr val="000000"/>
                  </a:solidFill>
                  <a:latin typeface="Times New Roman"/>
                  <a:ea typeface="Times New Roman"/>
                  <a:cs typeface="Times New Roman"/>
                  <a:sym typeface="Times New Roman"/>
                </a:rPr>
                <a:t>High precision and recall across all four classes, indicating very low misclassification rates between adjacent stages of dementia.</a:t>
              </a:r>
            </a:p>
          </p:txBody>
        </p:sp>
      </p:grpSp>
      <p:sp>
        <p:nvSpPr>
          <p:cNvPr name="TextBox 16" id="16"/>
          <p:cNvSpPr txBox="true"/>
          <p:nvPr/>
        </p:nvSpPr>
        <p:spPr>
          <a:xfrm rot="0">
            <a:off x="15813251" y="9426151"/>
            <a:ext cx="135255" cy="243840"/>
          </a:xfrm>
          <a:prstGeom prst="rect">
            <a:avLst/>
          </a:prstGeom>
        </p:spPr>
        <p:txBody>
          <a:bodyPr anchor="t" rtlCol="false" tIns="0" lIns="0" bIns="0" rIns="0">
            <a:spAutoFit/>
          </a:bodyPr>
          <a:lstStyle/>
          <a:p>
            <a:pPr algn="l">
              <a:lnSpc>
                <a:spcPts val="1739"/>
              </a:lnSpc>
            </a:pPr>
            <a:r>
              <a:rPr lang="en-US" sz="1450" spc="-50">
                <a:solidFill>
                  <a:srgbClr val="000000"/>
                </a:solidFill>
                <a:latin typeface="Cambria"/>
                <a:ea typeface="Cambria"/>
                <a:cs typeface="Cambria"/>
                <a:sym typeface="Cambria"/>
              </a:rPr>
              <a:t>G</a:t>
            </a:r>
          </a:p>
        </p:txBody>
      </p:sp>
      <p:sp>
        <p:nvSpPr>
          <p:cNvPr name="TextBox 17" id="17"/>
          <p:cNvSpPr txBox="true"/>
          <p:nvPr/>
        </p:nvSpPr>
        <p:spPr>
          <a:xfrm rot="0">
            <a:off x="16359720" y="9426151"/>
            <a:ext cx="975994" cy="243840"/>
          </a:xfrm>
          <a:prstGeom prst="rect">
            <a:avLst/>
          </a:prstGeom>
        </p:spPr>
        <p:txBody>
          <a:bodyPr anchor="t" rtlCol="false" tIns="0" lIns="0" bIns="0" rIns="0">
            <a:spAutoFit/>
          </a:bodyPr>
          <a:lstStyle/>
          <a:p>
            <a:pPr algn="l">
              <a:lnSpc>
                <a:spcPts val="1739"/>
              </a:lnSpc>
            </a:pPr>
            <a:r>
              <a:rPr lang="en-US" sz="1450" spc="-55">
                <a:solidFill>
                  <a:srgbClr val="000000"/>
                </a:solidFill>
                <a:latin typeface="Cambria"/>
                <a:ea typeface="Cambria"/>
                <a:cs typeface="Cambria"/>
                <a:sym typeface="Cambria"/>
              </a:rPr>
              <a:t>NotebookLM</a:t>
            </a:r>
          </a:p>
        </p:txBody>
      </p:sp>
      <p:sp>
        <p:nvSpPr>
          <p:cNvPr name="TextBox 18" id="18"/>
          <p:cNvSpPr txBox="true"/>
          <p:nvPr/>
        </p:nvSpPr>
        <p:spPr>
          <a:xfrm rot="0">
            <a:off x="4245622" y="8411326"/>
            <a:ext cx="2212023" cy="444500"/>
          </a:xfrm>
          <a:prstGeom prst="rect">
            <a:avLst/>
          </a:prstGeom>
        </p:spPr>
        <p:txBody>
          <a:bodyPr anchor="t" rtlCol="false" tIns="0" lIns="0" bIns="0" rIns="0">
            <a:spAutoFit/>
          </a:bodyPr>
          <a:lstStyle/>
          <a:p>
            <a:pPr algn="l">
              <a:lnSpc>
                <a:spcPts val="2829"/>
              </a:lnSpc>
            </a:pPr>
            <a:r>
              <a:rPr lang="en-US" sz="2499" spc="-64">
                <a:solidFill>
                  <a:srgbClr val="000000"/>
                </a:solidFill>
                <a:latin typeface="Times New Roman"/>
                <a:ea typeface="Times New Roman"/>
                <a:cs typeface="Times New Roman"/>
                <a:sym typeface="Times New Roman"/>
              </a:rPr>
              <a:t>Predicted</a:t>
            </a:r>
            <a:r>
              <a:rPr lang="en-US" sz="2499" spc="-64">
                <a:solidFill>
                  <a:srgbClr val="000000"/>
                </a:solidFill>
                <a:latin typeface="Times New Roman"/>
                <a:ea typeface="Times New Roman"/>
                <a:cs typeface="Times New Roman"/>
                <a:sym typeface="Times New Roman"/>
              </a:rPr>
              <a:t> Class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0F4F6"/>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8012595" y="2959100"/>
            <a:ext cx="1701800" cy="5981700"/>
            <a:chOff x="0" y="0"/>
            <a:chExt cx="2269067" cy="7975600"/>
          </a:xfrm>
        </p:grpSpPr>
        <p:sp>
          <p:nvSpPr>
            <p:cNvPr name="Freeform 3" id="3"/>
            <p:cNvSpPr/>
            <p:nvPr/>
          </p:nvSpPr>
          <p:spPr>
            <a:xfrm flipH="false" flipV="false" rot="0">
              <a:off x="0" y="0"/>
              <a:ext cx="2269109" cy="7975600"/>
            </a:xfrm>
            <a:custGeom>
              <a:avLst/>
              <a:gdLst/>
              <a:ahLst/>
              <a:cxnLst/>
              <a:rect r="r" b="b" t="t" l="l"/>
              <a:pathLst>
                <a:path h="7975600" w="2269109">
                  <a:moveTo>
                    <a:pt x="0" y="0"/>
                  </a:moveTo>
                  <a:lnTo>
                    <a:pt x="2269109" y="0"/>
                  </a:lnTo>
                  <a:lnTo>
                    <a:pt x="2269109" y="7975600"/>
                  </a:lnTo>
                  <a:lnTo>
                    <a:pt x="0" y="7975600"/>
                  </a:lnTo>
                  <a:lnTo>
                    <a:pt x="0" y="0"/>
                  </a:lnTo>
                  <a:close/>
                </a:path>
              </a:pathLst>
            </a:custGeom>
            <a:blipFill>
              <a:blip r:embed="rId2"/>
              <a:stretch>
                <a:fillRect l="0" t="0" r="1" b="0"/>
              </a:stretch>
            </a:blipFill>
          </p:spPr>
        </p:sp>
      </p:grpSp>
      <p:sp>
        <p:nvSpPr>
          <p:cNvPr name="TextBox 4" id="4"/>
          <p:cNvSpPr txBox="true"/>
          <p:nvPr/>
        </p:nvSpPr>
        <p:spPr>
          <a:xfrm rot="0">
            <a:off x="1546663" y="762634"/>
            <a:ext cx="14504194" cy="788670"/>
          </a:xfrm>
          <a:prstGeom prst="rect">
            <a:avLst/>
          </a:prstGeom>
        </p:spPr>
        <p:txBody>
          <a:bodyPr anchor="t" rtlCol="false" tIns="0" lIns="0" bIns="0" rIns="0">
            <a:spAutoFit/>
          </a:bodyPr>
          <a:lstStyle/>
          <a:p>
            <a:pPr algn="l">
              <a:lnSpc>
                <a:spcPts val="4800"/>
              </a:lnSpc>
            </a:pPr>
            <a:r>
              <a:rPr lang="en-US" sz="4000" spc="-7">
                <a:solidFill>
                  <a:srgbClr val="232323"/>
                </a:solidFill>
                <a:latin typeface="Telegraf"/>
                <a:ea typeface="Telegraf"/>
                <a:cs typeface="Telegraf"/>
                <a:sym typeface="Telegraf"/>
              </a:rPr>
              <a:t>From </a:t>
            </a:r>
            <a:r>
              <a:rPr lang="en-US" sz="4000" spc="-7">
                <a:solidFill>
                  <a:srgbClr val="1F1F1F"/>
                </a:solidFill>
                <a:latin typeface="Telegraf"/>
                <a:ea typeface="Telegraf"/>
                <a:cs typeface="Telegraf"/>
                <a:sym typeface="Telegraf"/>
              </a:rPr>
              <a:t>Research </a:t>
            </a:r>
            <a:r>
              <a:rPr lang="en-US" sz="4000" spc="-7">
                <a:solidFill>
                  <a:srgbClr val="232323"/>
                </a:solidFill>
                <a:latin typeface="Telegraf"/>
                <a:ea typeface="Telegraf"/>
                <a:cs typeface="Telegraf"/>
                <a:sym typeface="Telegraf"/>
              </a:rPr>
              <a:t>Project </a:t>
            </a:r>
            <a:r>
              <a:rPr lang="en-US" sz="4000" spc="-7">
                <a:solidFill>
                  <a:srgbClr val="242424"/>
                </a:solidFill>
                <a:latin typeface="Telegraf"/>
                <a:ea typeface="Telegraf"/>
                <a:cs typeface="Telegraf"/>
                <a:sym typeface="Telegraf"/>
              </a:rPr>
              <a:t>to </a:t>
            </a:r>
            <a:r>
              <a:rPr lang="en-US" sz="4000" spc="-7">
                <a:solidFill>
                  <a:srgbClr val="212121"/>
                </a:solidFill>
                <a:latin typeface="Telegraf"/>
                <a:ea typeface="Telegraf"/>
                <a:cs typeface="Telegraf"/>
                <a:sym typeface="Telegraf"/>
              </a:rPr>
              <a:t>Real-World Clinical </a:t>
            </a:r>
            <a:r>
              <a:rPr lang="en-US" sz="4000" spc="-7">
                <a:solidFill>
                  <a:srgbClr val="232323"/>
                </a:solidFill>
                <a:latin typeface="Telegraf"/>
                <a:ea typeface="Telegraf"/>
                <a:cs typeface="Telegraf"/>
                <a:sym typeface="Telegraf"/>
              </a:rPr>
              <a:t>Value</a:t>
            </a:r>
          </a:p>
        </p:txBody>
      </p:sp>
      <p:sp>
        <p:nvSpPr>
          <p:cNvPr name="TextBox 5" id="5"/>
          <p:cNvSpPr txBox="true"/>
          <p:nvPr/>
        </p:nvSpPr>
        <p:spPr>
          <a:xfrm rot="0">
            <a:off x="1202658" y="1760854"/>
            <a:ext cx="6255945" cy="754380"/>
          </a:xfrm>
          <a:prstGeom prst="rect">
            <a:avLst/>
          </a:prstGeom>
        </p:spPr>
        <p:txBody>
          <a:bodyPr anchor="t" rtlCol="false" tIns="0" lIns="0" bIns="0" rIns="0">
            <a:spAutoFit/>
          </a:bodyPr>
          <a:lstStyle/>
          <a:p>
            <a:pPr algn="l">
              <a:lnSpc>
                <a:spcPts val="4980"/>
              </a:lnSpc>
            </a:pPr>
            <a:r>
              <a:rPr lang="en-US" sz="4150" spc="-10">
                <a:solidFill>
                  <a:srgbClr val="083456"/>
                </a:solidFill>
                <a:latin typeface="Cambria"/>
                <a:ea typeface="Cambria"/>
                <a:cs typeface="Cambria"/>
                <a:sym typeface="Cambria"/>
              </a:rPr>
              <a:t>FEATURE I</a:t>
            </a:r>
            <a:r>
              <a:rPr lang="en-US" sz="4150" spc="-10">
                <a:solidFill>
                  <a:srgbClr val="0C3659"/>
                </a:solidFill>
                <a:latin typeface="Cambria"/>
                <a:ea typeface="Cambria"/>
                <a:cs typeface="Cambria"/>
                <a:sym typeface="Cambria"/>
              </a:rPr>
              <a:t>MPACT</a:t>
            </a:r>
          </a:p>
        </p:txBody>
      </p:sp>
      <p:sp>
        <p:nvSpPr>
          <p:cNvPr name="TextBox 6" id="6"/>
          <p:cNvSpPr txBox="true"/>
          <p:nvPr/>
        </p:nvSpPr>
        <p:spPr>
          <a:xfrm rot="0">
            <a:off x="842264" y="2809195"/>
            <a:ext cx="6660515" cy="1846457"/>
          </a:xfrm>
          <a:prstGeom prst="rect">
            <a:avLst/>
          </a:prstGeom>
        </p:spPr>
        <p:txBody>
          <a:bodyPr anchor="t" rtlCol="false" tIns="0" lIns="0" bIns="0" rIns="0">
            <a:spAutoFit/>
          </a:bodyPr>
          <a:lstStyle/>
          <a:p>
            <a:pPr algn="l" marL="604521" indent="-302261" lvl="1">
              <a:lnSpc>
                <a:spcPts val="3070"/>
              </a:lnSpc>
              <a:buFont typeface="Arial"/>
              <a:buChar char="•"/>
            </a:pPr>
            <a:r>
              <a:rPr lang="en-US" sz="2800" spc="-9">
                <a:solidFill>
                  <a:srgbClr val="072D50"/>
                </a:solidFill>
                <a:latin typeface="Cambria"/>
                <a:ea typeface="Cambria"/>
                <a:cs typeface="Cambria"/>
                <a:sym typeface="Cambria"/>
              </a:rPr>
              <a:t>Automated </a:t>
            </a:r>
            <a:r>
              <a:rPr lang="en-US" sz="2800" spc="-9">
                <a:solidFill>
                  <a:srgbClr val="05243B"/>
                </a:solidFill>
                <a:latin typeface="Cambria"/>
                <a:ea typeface="Cambria"/>
                <a:cs typeface="Cambria"/>
                <a:sym typeface="Cambria"/>
              </a:rPr>
              <a:t>Classification </a:t>
            </a:r>
            <a:r>
              <a:rPr lang="en-US" sz="2800" spc="-9">
                <a:solidFill>
                  <a:srgbClr val="052441"/>
                </a:solidFill>
                <a:latin typeface="Cambria"/>
                <a:ea typeface="Cambria"/>
                <a:cs typeface="Cambria"/>
                <a:sym typeface="Cambria"/>
              </a:rPr>
              <a:t>of </a:t>
            </a:r>
            <a:r>
              <a:rPr lang="en-US" sz="2800" spc="-9">
                <a:solidFill>
                  <a:srgbClr val="032F52"/>
                </a:solidFill>
                <a:latin typeface="Cambria"/>
                <a:ea typeface="Cambria"/>
                <a:cs typeface="Cambria"/>
                <a:sym typeface="Cambria"/>
              </a:rPr>
              <a:t>MRI </a:t>
            </a:r>
            <a:r>
              <a:rPr lang="en-US" sz="2800" spc="-9">
                <a:solidFill>
                  <a:srgbClr val="0F334D"/>
                </a:solidFill>
                <a:latin typeface="Cambria"/>
                <a:ea typeface="Cambria"/>
                <a:cs typeface="Cambria"/>
                <a:sym typeface="Cambria"/>
              </a:rPr>
              <a:t>Scans Reduces the manual workload for radiologists and enables faster patient screening.</a:t>
            </a:r>
          </a:p>
        </p:txBody>
      </p:sp>
      <p:sp>
        <p:nvSpPr>
          <p:cNvPr name="TextBox 7" id="7"/>
          <p:cNvSpPr txBox="true"/>
          <p:nvPr/>
        </p:nvSpPr>
        <p:spPr>
          <a:xfrm rot="0">
            <a:off x="842906" y="4811114"/>
            <a:ext cx="6978015" cy="1839522"/>
          </a:xfrm>
          <a:prstGeom prst="rect">
            <a:avLst/>
          </a:prstGeom>
        </p:spPr>
        <p:txBody>
          <a:bodyPr anchor="t" rtlCol="false" tIns="0" lIns="0" bIns="0" rIns="0">
            <a:spAutoFit/>
          </a:bodyPr>
          <a:lstStyle/>
          <a:p>
            <a:pPr algn="l" marL="593726" indent="-296863" lvl="1">
              <a:lnSpc>
                <a:spcPts val="3065"/>
              </a:lnSpc>
              <a:buFont typeface="Arial"/>
              <a:buChar char="•"/>
            </a:pPr>
            <a:r>
              <a:rPr lang="en-US" sz="2750" spc="-72">
                <a:solidFill>
                  <a:srgbClr val="083354"/>
                </a:solidFill>
                <a:latin typeface="Cambria"/>
                <a:ea typeface="Cambria"/>
                <a:cs typeface="Cambria"/>
                <a:sym typeface="Cambria"/>
              </a:rPr>
              <a:t>Multi-Class </a:t>
            </a:r>
            <a:r>
              <a:rPr lang="en-US" sz="2750" spc="-72">
                <a:solidFill>
                  <a:srgbClr val="0A2A42"/>
                </a:solidFill>
                <a:latin typeface="Cambria"/>
                <a:ea typeface="Cambria"/>
                <a:cs typeface="Cambria"/>
                <a:sym typeface="Cambria"/>
              </a:rPr>
              <a:t>Severity </a:t>
            </a:r>
            <a:r>
              <a:rPr lang="en-US" sz="2750" spc="-72">
                <a:solidFill>
                  <a:srgbClr val="0C2D46"/>
                </a:solidFill>
                <a:latin typeface="Cambria"/>
                <a:ea typeface="Cambria"/>
                <a:cs typeface="Cambria"/>
                <a:sym typeface="Cambria"/>
              </a:rPr>
              <a:t>Support </a:t>
            </a:r>
            <a:r>
              <a:rPr lang="en-US" sz="2750" spc="-72">
                <a:solidFill>
                  <a:srgbClr val="052842"/>
                </a:solidFill>
                <a:latin typeface="Cambria"/>
                <a:ea typeface="Cambria"/>
                <a:cs typeface="Cambria"/>
                <a:sym typeface="Cambria"/>
              </a:rPr>
              <a:t>(4 </a:t>
            </a:r>
            <a:r>
              <a:rPr lang="en-US" sz="2750" spc="-72">
                <a:solidFill>
                  <a:srgbClr val="072A44"/>
                </a:solidFill>
                <a:latin typeface="Cambria"/>
                <a:ea typeface="Cambria"/>
                <a:cs typeface="Cambria"/>
                <a:sym typeface="Cambria"/>
              </a:rPr>
              <a:t>Classes) Provides an objective, repeatable method for tracking disease progression over time.</a:t>
            </a:r>
          </a:p>
        </p:txBody>
      </p:sp>
      <p:sp>
        <p:nvSpPr>
          <p:cNvPr name="TextBox 8" id="8"/>
          <p:cNvSpPr txBox="true"/>
          <p:nvPr/>
        </p:nvSpPr>
        <p:spPr>
          <a:xfrm rot="0">
            <a:off x="840339" y="6806097"/>
            <a:ext cx="6767195" cy="2303657"/>
          </a:xfrm>
          <a:prstGeom prst="rect">
            <a:avLst/>
          </a:prstGeom>
        </p:spPr>
        <p:txBody>
          <a:bodyPr anchor="t" rtlCol="false" tIns="0" lIns="0" bIns="0" rIns="0">
            <a:spAutoFit/>
          </a:bodyPr>
          <a:lstStyle/>
          <a:p>
            <a:pPr algn="l" marL="604521" indent="-302261" lvl="1">
              <a:lnSpc>
                <a:spcPts val="3070"/>
              </a:lnSpc>
              <a:buFont typeface="Arial"/>
              <a:buChar char="•"/>
            </a:pPr>
            <a:r>
              <a:rPr lang="en-US" sz="2800" spc="-121">
                <a:solidFill>
                  <a:srgbClr val="072842"/>
                </a:solidFill>
                <a:latin typeface="Cambria"/>
                <a:ea typeface="Cambria"/>
                <a:cs typeface="Cambria"/>
                <a:sym typeface="Cambria"/>
              </a:rPr>
              <a:t>Complete </a:t>
            </a:r>
            <a:r>
              <a:rPr lang="en-US" sz="2800" spc="-121">
                <a:solidFill>
                  <a:srgbClr val="0A314F"/>
                </a:solidFill>
                <a:latin typeface="Cambria"/>
                <a:ea typeface="Cambria"/>
                <a:cs typeface="Cambria"/>
                <a:sym typeface="Cambria"/>
              </a:rPr>
              <a:t>End-to-End </a:t>
            </a:r>
            <a:r>
              <a:rPr lang="en-US" sz="2800" spc="-121">
                <a:solidFill>
                  <a:srgbClr val="05284B"/>
                </a:solidFill>
                <a:latin typeface="Cambria"/>
                <a:ea typeface="Cambria"/>
                <a:cs typeface="Cambria"/>
                <a:sym typeface="Cambria"/>
              </a:rPr>
              <a:t>Pipeline </a:t>
            </a:r>
            <a:r>
              <a:rPr lang="en-US" sz="2800" spc="-121">
                <a:solidFill>
                  <a:srgbClr val="053662"/>
                </a:solidFill>
                <a:latin typeface="Cambria"/>
                <a:ea typeface="Cambria"/>
                <a:cs typeface="Cambria"/>
                <a:sym typeface="Cambria"/>
              </a:rPr>
              <a:t>Delivers a scalable and reproducible system for medical imaging evaluation in clinical or academic settings.</a:t>
            </a:r>
          </a:p>
        </p:txBody>
      </p:sp>
      <p:sp>
        <p:nvSpPr>
          <p:cNvPr name="TextBox 9" id="9"/>
          <p:cNvSpPr txBox="true"/>
          <p:nvPr/>
        </p:nvSpPr>
        <p:spPr>
          <a:xfrm rot="0">
            <a:off x="10210330" y="2498090"/>
            <a:ext cx="5586730" cy="1899428"/>
          </a:xfrm>
          <a:prstGeom prst="rect">
            <a:avLst/>
          </a:prstGeom>
        </p:spPr>
        <p:txBody>
          <a:bodyPr anchor="t" rtlCol="false" tIns="0" lIns="0" bIns="0" rIns="0">
            <a:spAutoFit/>
          </a:bodyPr>
          <a:lstStyle/>
          <a:p>
            <a:pPr algn="l" marL="626111" indent="-313055" lvl="1">
              <a:lnSpc>
                <a:spcPts val="3133"/>
              </a:lnSpc>
              <a:buFont typeface="Arial"/>
              <a:buChar char="•"/>
            </a:pPr>
            <a:r>
              <a:rPr lang="en-US" sz="2900" spc="-121">
                <a:solidFill>
                  <a:srgbClr val="000000"/>
                </a:solidFill>
                <a:latin typeface="Cambria"/>
                <a:ea typeface="Cambria"/>
                <a:cs typeface="Cambria"/>
                <a:sym typeface="Cambria"/>
              </a:rPr>
              <a:t>Reduces the manual workload for radiologists and enables faster patient screening.</a:t>
            </a:r>
          </a:p>
        </p:txBody>
      </p:sp>
      <p:sp>
        <p:nvSpPr>
          <p:cNvPr name="TextBox 10" id="10"/>
          <p:cNvSpPr txBox="true"/>
          <p:nvPr/>
        </p:nvSpPr>
        <p:spPr>
          <a:xfrm rot="0">
            <a:off x="10210330" y="4354159"/>
            <a:ext cx="5432425" cy="1892389"/>
          </a:xfrm>
          <a:prstGeom prst="rect">
            <a:avLst/>
          </a:prstGeom>
        </p:spPr>
        <p:txBody>
          <a:bodyPr anchor="t" rtlCol="false" tIns="0" lIns="0" bIns="0" rIns="0">
            <a:spAutoFit/>
          </a:bodyPr>
          <a:lstStyle/>
          <a:p>
            <a:pPr algn="l" marL="615315" indent="-307658" lvl="1">
              <a:lnSpc>
                <a:spcPts val="3129"/>
              </a:lnSpc>
              <a:buFont typeface="Arial"/>
              <a:buChar char="•"/>
            </a:pPr>
            <a:r>
              <a:rPr lang="en-US" sz="2850" spc="-9">
                <a:solidFill>
                  <a:srgbClr val="000000"/>
                </a:solidFill>
                <a:latin typeface="Cambria"/>
                <a:ea typeface="Cambria"/>
                <a:cs typeface="Cambria"/>
                <a:sym typeface="Cambria"/>
              </a:rPr>
              <a:t>Provides an objective, repeatable method for tracking disease 	progression over time.</a:t>
            </a:r>
          </a:p>
        </p:txBody>
      </p:sp>
      <p:sp>
        <p:nvSpPr>
          <p:cNvPr name="TextBox 11" id="11"/>
          <p:cNvSpPr txBox="true"/>
          <p:nvPr/>
        </p:nvSpPr>
        <p:spPr>
          <a:xfrm rot="0">
            <a:off x="10210330" y="6521532"/>
            <a:ext cx="5948680" cy="2419268"/>
          </a:xfrm>
          <a:prstGeom prst="rect">
            <a:avLst/>
          </a:prstGeom>
        </p:spPr>
        <p:txBody>
          <a:bodyPr anchor="t" rtlCol="false" tIns="0" lIns="0" bIns="0" rIns="0">
            <a:spAutoFit/>
          </a:bodyPr>
          <a:lstStyle/>
          <a:p>
            <a:pPr algn="l" marL="626111" indent="-313055" lvl="1">
              <a:lnSpc>
                <a:spcPts val="3180"/>
              </a:lnSpc>
              <a:buFont typeface="Arial"/>
              <a:buChar char="•"/>
            </a:pPr>
            <a:r>
              <a:rPr lang="en-US" sz="2900" spc="-9">
                <a:solidFill>
                  <a:srgbClr val="000000"/>
                </a:solidFill>
                <a:latin typeface="Cambria"/>
                <a:ea typeface="Cambria"/>
                <a:cs typeface="Cambria"/>
                <a:sym typeface="Cambria"/>
              </a:rPr>
              <a:t>Delivers a scalable and reproducible 	system for medical imaging evaluation in clinical or academic settings.</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F0F4F6"/>
        </a:solidFill>
      </p:bgPr>
    </p:bg>
    <p:spTree>
      <p:nvGrpSpPr>
        <p:cNvPr id="1" name=""/>
        <p:cNvGrpSpPr/>
        <p:nvPr/>
      </p:nvGrpSpPr>
      <p:grpSpPr>
        <a:xfrm>
          <a:off x="0" y="0"/>
          <a:ext cx="0" cy="0"/>
          <a:chOff x="0" y="0"/>
          <a:chExt cx="0" cy="0"/>
        </a:xfrm>
      </p:grpSpPr>
      <p:sp>
        <p:nvSpPr>
          <p:cNvPr name="TextBox 2" id="2"/>
          <p:cNvSpPr txBox="true"/>
          <p:nvPr/>
        </p:nvSpPr>
        <p:spPr>
          <a:xfrm rot="0">
            <a:off x="1042242" y="510681"/>
            <a:ext cx="14623642" cy="1693545"/>
          </a:xfrm>
          <a:prstGeom prst="rect">
            <a:avLst/>
          </a:prstGeom>
        </p:spPr>
        <p:txBody>
          <a:bodyPr anchor="t" rtlCol="false" tIns="0" lIns="0" bIns="0" rIns="0">
            <a:spAutoFit/>
          </a:bodyPr>
          <a:lstStyle/>
          <a:p>
            <a:pPr algn="l">
              <a:lnSpc>
                <a:spcPts val="5400"/>
              </a:lnSpc>
            </a:pPr>
            <a:r>
              <a:rPr lang="en-US" sz="4500">
                <a:solidFill>
                  <a:srgbClr val="242424"/>
                </a:solidFill>
                <a:latin typeface="Telegraf"/>
                <a:ea typeface="Telegraf"/>
                <a:cs typeface="Telegraf"/>
                <a:sym typeface="Telegraf"/>
              </a:rPr>
              <a:t>A </a:t>
            </a:r>
            <a:r>
              <a:rPr lang="en-US" sz="4500">
                <a:solidFill>
                  <a:srgbClr val="212121"/>
                </a:solidFill>
                <a:latin typeface="Telegraf"/>
                <a:ea typeface="Telegraf"/>
                <a:cs typeface="Telegraf"/>
                <a:sym typeface="Telegraf"/>
              </a:rPr>
              <a:t>New </a:t>
            </a:r>
            <a:r>
              <a:rPr lang="en-US" sz="4500">
                <a:solidFill>
                  <a:srgbClr val="1D1D1D"/>
                </a:solidFill>
                <a:latin typeface="Telegraf"/>
                <a:ea typeface="Telegraf"/>
                <a:cs typeface="Telegraf"/>
                <a:sym typeface="Telegraf"/>
              </a:rPr>
              <a:t>Paradigm for </a:t>
            </a:r>
            <a:r>
              <a:rPr lang="en-US" sz="4500">
                <a:solidFill>
                  <a:srgbClr val="1F1F1F"/>
                </a:solidFill>
                <a:latin typeface="Telegraf"/>
                <a:ea typeface="Telegraf"/>
                <a:cs typeface="Telegraf"/>
                <a:sym typeface="Telegraf"/>
              </a:rPr>
              <a:t>AI-Empowered Neurological </a:t>
            </a:r>
            <a:r>
              <a:rPr lang="en-US" sz="4500">
                <a:solidFill>
                  <a:srgbClr val="1C1C1C"/>
                </a:solidFill>
                <a:latin typeface="Telegraf"/>
                <a:ea typeface="Telegraf"/>
                <a:cs typeface="Telegraf"/>
                <a:sym typeface="Telegraf"/>
              </a:rPr>
              <a:t>Diagnosis</a:t>
            </a:r>
          </a:p>
        </p:txBody>
      </p:sp>
      <p:sp>
        <p:nvSpPr>
          <p:cNvPr name="TextBox 3" id="3"/>
          <p:cNvSpPr txBox="true"/>
          <p:nvPr/>
        </p:nvSpPr>
        <p:spPr>
          <a:xfrm rot="0">
            <a:off x="1200868" y="2682310"/>
            <a:ext cx="15073462" cy="4627691"/>
          </a:xfrm>
          <a:prstGeom prst="rect">
            <a:avLst/>
          </a:prstGeom>
        </p:spPr>
        <p:txBody>
          <a:bodyPr anchor="t" rtlCol="false" tIns="0" lIns="0" bIns="0" rIns="0">
            <a:spAutoFit/>
          </a:bodyPr>
          <a:lstStyle/>
          <a:p>
            <a:pPr algn="just">
              <a:lnSpc>
                <a:spcPts val="3381"/>
              </a:lnSpc>
            </a:pPr>
            <a:r>
              <a:rPr lang="en-US" sz="3050">
                <a:solidFill>
                  <a:srgbClr val="000000"/>
                </a:solidFill>
                <a:latin typeface="Times New Roman"/>
                <a:ea typeface="Times New Roman"/>
                <a:cs typeface="Times New Roman"/>
                <a:sym typeface="Times New Roman"/>
              </a:rPr>
              <a:t>The NeuroInsight-Classifier successfully identifies Alzheimer's disease severity from MRI scans with high predictive performance. The automation of this process can significanUy reduce radiologist worHoad and improve clinical decision accuracy.</a:t>
            </a:r>
          </a:p>
          <a:p>
            <a:pPr algn="just">
              <a:lnSpc>
                <a:spcPts val="3540"/>
              </a:lnSpc>
            </a:pPr>
          </a:p>
          <a:p>
            <a:pPr algn="just">
              <a:lnSpc>
                <a:spcPts val="3331"/>
              </a:lnSpc>
            </a:pPr>
            <a:r>
              <a:rPr lang="en-US" sz="2950" spc="-7">
                <a:solidFill>
                  <a:srgbClr val="000000"/>
                </a:solidFill>
                <a:latin typeface="Cambria"/>
                <a:ea typeface="Cambria"/>
                <a:cs typeface="Cambria"/>
                <a:sym typeface="Cambria"/>
              </a:rPr>
              <a:t>This project demonstrates strong potential for integration into real-world healthcare systems, including telemedicine platforms and hospital Picture Archiving and Communication Systems (PACS), with proper deployment pipelines.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0F4F6"/>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12590282" y="3673554"/>
            <a:ext cx="3027958" cy="3139602"/>
          </a:xfrm>
          <a:prstGeom prst="rect">
            <a:avLst/>
          </a:prstGeom>
        </p:spPr>
      </p:pic>
      <p:pic>
        <p:nvPicPr>
          <p:cNvPr name="Picture 3" id="3"/>
          <p:cNvPicPr>
            <a:picLocks noChangeAspect="true"/>
          </p:cNvPicPr>
          <p:nvPr/>
        </p:nvPicPr>
        <p:blipFill>
          <a:blip r:embed="rId3"/>
          <a:stretch>
            <a:fillRect/>
          </a:stretch>
        </p:blipFill>
        <p:spPr>
          <a:xfrm rot="0">
            <a:off x="7304168" y="3680479"/>
            <a:ext cx="3078614" cy="3038067"/>
          </a:xfrm>
          <a:prstGeom prst="rect">
            <a:avLst/>
          </a:prstGeom>
        </p:spPr>
      </p:pic>
      <p:pic>
        <p:nvPicPr>
          <p:cNvPr name="Picture 4" id="4"/>
          <p:cNvPicPr>
            <a:picLocks noChangeAspect="true"/>
          </p:cNvPicPr>
          <p:nvPr/>
        </p:nvPicPr>
        <p:blipFill>
          <a:blip r:embed="rId4"/>
          <a:stretch>
            <a:fillRect/>
          </a:stretch>
        </p:blipFill>
        <p:spPr>
          <a:xfrm rot="0">
            <a:off x="2076004" y="3672554"/>
            <a:ext cx="2987567" cy="3129482"/>
          </a:xfrm>
          <a:prstGeom prst="rect">
            <a:avLst/>
          </a:prstGeom>
        </p:spPr>
      </p:pic>
      <p:sp>
        <p:nvSpPr>
          <p:cNvPr name="TextBox 5" id="5"/>
          <p:cNvSpPr txBox="true"/>
          <p:nvPr/>
        </p:nvSpPr>
        <p:spPr>
          <a:xfrm rot="0">
            <a:off x="1042242" y="501156"/>
            <a:ext cx="15460773" cy="960120"/>
          </a:xfrm>
          <a:prstGeom prst="rect">
            <a:avLst/>
          </a:prstGeom>
        </p:spPr>
        <p:txBody>
          <a:bodyPr anchor="t" rtlCol="false" tIns="0" lIns="0" bIns="0" rIns="0">
            <a:spAutoFit/>
          </a:bodyPr>
          <a:lstStyle/>
          <a:p>
            <a:pPr algn="ctr">
              <a:lnSpc>
                <a:spcPts val="5999"/>
              </a:lnSpc>
            </a:pPr>
            <a:r>
              <a:rPr lang="en-US" sz="4999">
                <a:solidFill>
                  <a:srgbClr val="242424"/>
                </a:solidFill>
                <a:latin typeface="Telegraf"/>
                <a:ea typeface="Telegraf"/>
                <a:cs typeface="Telegraf"/>
                <a:sym typeface="Telegraf"/>
              </a:rPr>
              <a:t>-------------Meet The Team-------------</a:t>
            </a:r>
          </a:p>
        </p:txBody>
      </p:sp>
      <p:sp>
        <p:nvSpPr>
          <p:cNvPr name="TextBox 6" id="6"/>
          <p:cNvSpPr txBox="true"/>
          <p:nvPr/>
        </p:nvSpPr>
        <p:spPr>
          <a:xfrm rot="0">
            <a:off x="1630942" y="6754016"/>
            <a:ext cx="3910865" cy="1484128"/>
          </a:xfrm>
          <a:prstGeom prst="rect">
            <a:avLst/>
          </a:prstGeom>
        </p:spPr>
        <p:txBody>
          <a:bodyPr anchor="t" rtlCol="false" tIns="0" lIns="0" bIns="0" rIns="0">
            <a:spAutoFit/>
          </a:bodyPr>
          <a:lstStyle/>
          <a:p>
            <a:pPr algn="l">
              <a:lnSpc>
                <a:spcPts val="3288"/>
              </a:lnSpc>
            </a:pPr>
            <a:r>
              <a:rPr lang="en-US" sz="2491" spc="-7">
                <a:solidFill>
                  <a:srgbClr val="000000"/>
                </a:solidFill>
                <a:latin typeface="Brick Sans"/>
                <a:ea typeface="Brick Sans"/>
                <a:cs typeface="Brick Sans"/>
                <a:sym typeface="Brick Sans"/>
              </a:rPr>
              <a:t>Himanshu Gaur</a:t>
            </a:r>
          </a:p>
          <a:p>
            <a:pPr algn="l">
              <a:lnSpc>
                <a:spcPts val="3288"/>
              </a:lnSpc>
            </a:pPr>
            <a:r>
              <a:rPr lang="en-US" sz="2491" spc="-7">
                <a:solidFill>
                  <a:srgbClr val="000000"/>
                </a:solidFill>
                <a:latin typeface="TT Drugs"/>
                <a:ea typeface="TT Drugs"/>
                <a:cs typeface="TT Drugs"/>
                <a:sym typeface="TT Drugs"/>
              </a:rPr>
              <a:t>23BCY10127</a:t>
            </a:r>
          </a:p>
          <a:p>
            <a:pPr algn="l">
              <a:lnSpc>
                <a:spcPts val="3288"/>
              </a:lnSpc>
            </a:pPr>
            <a:r>
              <a:rPr lang="en-US" sz="2491" spc="-7">
                <a:solidFill>
                  <a:srgbClr val="000000"/>
                </a:solidFill>
                <a:latin typeface="TT Drugs"/>
                <a:ea typeface="TT Drugs"/>
                <a:cs typeface="TT Drugs"/>
                <a:sym typeface="TT Drugs"/>
              </a:rPr>
              <a:t>VIT Bhopal University</a:t>
            </a:r>
          </a:p>
        </p:txBody>
      </p:sp>
      <p:sp>
        <p:nvSpPr>
          <p:cNvPr name="TextBox 7" id="7"/>
          <p:cNvSpPr txBox="true"/>
          <p:nvPr/>
        </p:nvSpPr>
        <p:spPr>
          <a:xfrm rot="0">
            <a:off x="6840718" y="6693196"/>
            <a:ext cx="4009200" cy="1484128"/>
          </a:xfrm>
          <a:prstGeom prst="rect">
            <a:avLst/>
          </a:prstGeom>
        </p:spPr>
        <p:txBody>
          <a:bodyPr anchor="t" rtlCol="false" tIns="0" lIns="0" bIns="0" rIns="0">
            <a:spAutoFit/>
          </a:bodyPr>
          <a:lstStyle/>
          <a:p>
            <a:pPr algn="l">
              <a:lnSpc>
                <a:spcPts val="3288"/>
              </a:lnSpc>
            </a:pPr>
            <a:r>
              <a:rPr lang="en-US" sz="2491" spc="-7">
                <a:solidFill>
                  <a:srgbClr val="000000"/>
                </a:solidFill>
                <a:latin typeface="Brick Sans"/>
                <a:ea typeface="Brick Sans"/>
                <a:cs typeface="Brick Sans"/>
                <a:sym typeface="Brick Sans"/>
              </a:rPr>
              <a:t>Paarth Vakharia</a:t>
            </a:r>
          </a:p>
          <a:p>
            <a:pPr algn="l">
              <a:lnSpc>
                <a:spcPts val="3288"/>
              </a:lnSpc>
            </a:pPr>
            <a:r>
              <a:rPr lang="en-US" sz="2491" spc="-7">
                <a:solidFill>
                  <a:srgbClr val="000000"/>
                </a:solidFill>
                <a:latin typeface="TT Drugs"/>
                <a:ea typeface="TT Drugs"/>
                <a:cs typeface="TT Drugs"/>
                <a:sym typeface="TT Drugs"/>
              </a:rPr>
              <a:t>23BCY10075</a:t>
            </a:r>
          </a:p>
          <a:p>
            <a:pPr algn="l">
              <a:lnSpc>
                <a:spcPts val="3288"/>
              </a:lnSpc>
            </a:pPr>
            <a:r>
              <a:rPr lang="en-US" sz="2491" spc="-7">
                <a:solidFill>
                  <a:srgbClr val="000000"/>
                </a:solidFill>
                <a:latin typeface="TT Drugs"/>
                <a:ea typeface="TT Drugs"/>
                <a:cs typeface="TT Drugs"/>
                <a:sym typeface="TT Drugs"/>
              </a:rPr>
              <a:t>VIT Bhopal University</a:t>
            </a:r>
          </a:p>
        </p:txBody>
      </p:sp>
      <p:sp>
        <p:nvSpPr>
          <p:cNvPr name="TextBox 8" id="8"/>
          <p:cNvSpPr txBox="true"/>
          <p:nvPr/>
        </p:nvSpPr>
        <p:spPr>
          <a:xfrm rot="0">
            <a:off x="12148828" y="6771665"/>
            <a:ext cx="3910865" cy="1484128"/>
          </a:xfrm>
          <a:prstGeom prst="rect">
            <a:avLst/>
          </a:prstGeom>
        </p:spPr>
        <p:txBody>
          <a:bodyPr anchor="t" rtlCol="false" tIns="0" lIns="0" bIns="0" rIns="0">
            <a:spAutoFit/>
          </a:bodyPr>
          <a:lstStyle/>
          <a:p>
            <a:pPr algn="l">
              <a:lnSpc>
                <a:spcPts val="3288"/>
              </a:lnSpc>
            </a:pPr>
            <a:r>
              <a:rPr lang="en-US" sz="2491" spc="-7">
                <a:solidFill>
                  <a:srgbClr val="000000"/>
                </a:solidFill>
                <a:latin typeface="Brick Sans"/>
                <a:ea typeface="Brick Sans"/>
                <a:cs typeface="Brick Sans"/>
                <a:sym typeface="Brick Sans"/>
              </a:rPr>
              <a:t>Abhinav Mehra</a:t>
            </a:r>
          </a:p>
          <a:p>
            <a:pPr algn="l">
              <a:lnSpc>
                <a:spcPts val="3288"/>
              </a:lnSpc>
            </a:pPr>
            <a:r>
              <a:rPr lang="en-US" sz="2491" spc="-7">
                <a:solidFill>
                  <a:srgbClr val="000000"/>
                </a:solidFill>
                <a:latin typeface="TT Drugs"/>
                <a:ea typeface="TT Drugs"/>
                <a:cs typeface="TT Drugs"/>
                <a:sym typeface="TT Drugs"/>
              </a:rPr>
              <a:t>23BCY10015</a:t>
            </a:r>
          </a:p>
          <a:p>
            <a:pPr algn="l">
              <a:lnSpc>
                <a:spcPts val="3288"/>
              </a:lnSpc>
            </a:pPr>
            <a:r>
              <a:rPr lang="en-US" sz="2491" spc="-7">
                <a:solidFill>
                  <a:srgbClr val="000000"/>
                </a:solidFill>
                <a:latin typeface="TT Drugs"/>
                <a:ea typeface="TT Drugs"/>
                <a:cs typeface="TT Drugs"/>
                <a:sym typeface="TT Drugs"/>
              </a:rPr>
              <a:t>VIT Bhopal University</a:t>
            </a:r>
          </a:p>
        </p:txBody>
      </p:sp>
      <p:sp>
        <p:nvSpPr>
          <p:cNvPr name="TextBox 9" id="9"/>
          <p:cNvSpPr txBox="true"/>
          <p:nvPr/>
        </p:nvSpPr>
        <p:spPr>
          <a:xfrm rot="0">
            <a:off x="6437239" y="1757742"/>
            <a:ext cx="4816157" cy="1054148"/>
          </a:xfrm>
          <a:prstGeom prst="rect">
            <a:avLst/>
          </a:prstGeom>
        </p:spPr>
        <p:txBody>
          <a:bodyPr anchor="t" rtlCol="false" tIns="0" lIns="0" bIns="0" rIns="0">
            <a:spAutoFit/>
          </a:bodyPr>
          <a:lstStyle/>
          <a:p>
            <a:pPr algn="l" marL="0" indent="0" lvl="0">
              <a:lnSpc>
                <a:spcPts val="6084"/>
              </a:lnSpc>
              <a:spcBef>
                <a:spcPct val="0"/>
              </a:spcBef>
            </a:pPr>
            <a:r>
              <a:rPr lang="en-US" sz="5600" spc="118" strike="noStrike" u="sng">
                <a:solidFill>
                  <a:srgbClr val="212121"/>
                </a:solidFill>
                <a:latin typeface="Copperplate Gothic 29 BC"/>
                <a:ea typeface="Copperplate Gothic 29 BC"/>
                <a:cs typeface="Copperplate Gothic 29 BC"/>
                <a:sym typeface="Copperplate Gothic 29 BC"/>
              </a:rPr>
              <a:t>NeuroInsight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DAG7GBq5Ah8</dc:identifier>
  <dcterms:modified xsi:type="dcterms:W3CDTF">2011-08-01T06:04:30Z</dcterms:modified>
  <cp:revision>1</cp:revision>
  <dc:title>NeuroInsight_Accelerating_Alzheimer_s_Diagnosis(1).ppt</dc:title>
</cp:coreProperties>
</file>